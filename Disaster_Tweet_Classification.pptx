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12480" y="-1828800"/>
            <a:ext cx="5943600" cy="5943600"/>
          </a:xfrm>
          <a:prstGeom prst="ellipse">
            <a:avLst/>
          </a:prstGeom>
          <a:solidFill>
            <a:srgbClr val="593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4206240"/>
            <a:ext cx="4389120" cy="4389120"/>
          </a:xfrm>
          <a:prstGeom prst="ellipse">
            <a:avLst/>
          </a:prstGeom>
          <a:solidFill>
            <a:srgbClr val="593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371600" y="5212080"/>
            <a:ext cx="3291840" cy="3291840"/>
          </a:xfrm>
          <a:prstGeom prst="ellipse">
            <a:avLst/>
          </a:prstGeom>
          <a:solidFill>
            <a:srgbClr val="593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6400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D1A978"/>
                </a:solidFill>
                <a:latin typeface="Calibri"/>
              </a:rPr>
              <a:t>NATURAL LANGUAGE PROCESSING  · 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676656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5600" b="0">
                <a:solidFill>
                  <a:srgbClr val="FFFFFF"/>
                </a:solidFill>
                <a:latin typeface="Georgia"/>
              </a:rPr>
              <a:t>Disaster Tweet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676656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5600" b="0">
                <a:solidFill>
                  <a:srgbClr val="FFFFFF"/>
                </a:solidFill>
                <a:latin typeface="Georgia"/>
              </a:rPr>
              <a:t>Classification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749039"/>
            <a:ext cx="1280160" cy="64008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603504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900" b="0">
                <a:solidFill>
                  <a:srgbClr val="E4C59D"/>
                </a:solidFill>
                <a:latin typeface="Calibri"/>
              </a:rPr>
              <a:t>Real-time disaster identification from social media using NLP and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257800"/>
            <a:ext cx="3200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1">
                <a:solidFill>
                  <a:srgbClr val="D1A978"/>
                </a:solidFill>
                <a:latin typeface="Calibri"/>
              </a:rPr>
              <a:t>PROJECT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32120"/>
            <a:ext cx="38404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Data exploration to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5257800"/>
            <a:ext cx="2743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1">
                <a:solidFill>
                  <a:srgbClr val="D1A978"/>
                </a:solidFill>
                <a:latin typeface="Calibri"/>
              </a:rPr>
              <a:t>PREPARED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5532120"/>
            <a:ext cx="274320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  <a:latin typeface="Calibri"/>
              </a:rPr>
              <a:t>Riya</a:t>
            </a:r>
            <a:r>
              <a:rPr lang="en-US" sz="1400" b="0" dirty="0">
                <a:solidFill>
                  <a:srgbClr val="FFFFFF"/>
                </a:solidFill>
                <a:latin typeface="Calibri"/>
              </a:rPr>
              <a:t> Goel</a:t>
            </a:r>
            <a:endParaRPr sz="14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818120" y="1097280"/>
            <a:ext cx="3749039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001000" y="1280160"/>
            <a:ext cx="457200" cy="457200"/>
          </a:xfrm>
          <a:prstGeom prst="ellipse">
            <a:avLst/>
          </a:prstGeom>
          <a:solidFill>
            <a:srgbClr val="754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1280160"/>
            <a:ext cx="2743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593148"/>
                </a:solidFill>
                <a:latin typeface="Calibri"/>
              </a:rPr>
              <a:t>Incoming tweet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1536192"/>
            <a:ext cx="27432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dirty="0">
                <a:solidFill>
                  <a:srgbClr val="75465B"/>
                </a:solidFill>
                <a:latin typeface="Calibri"/>
              </a:rPr>
              <a:t>raw social-media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1920240"/>
            <a:ext cx="342900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>
                <a:solidFill>
                  <a:srgbClr val="332C30"/>
                </a:solidFill>
                <a:latin typeface="Georgia"/>
              </a:rPr>
              <a:t>"Forest fire near La Ronge Sask. Canada"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464040" y="3017520"/>
            <a:ext cx="457200" cy="457200"/>
          </a:xfrm>
          <a:prstGeom prst="downArrow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818120" y="3566160"/>
            <a:ext cx="3749039" cy="731520"/>
          </a:xfrm>
          <a:prstGeom prst="roundRect">
            <a:avLst/>
          </a:prstGeom>
          <a:solidFill>
            <a:srgbClr val="754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18120" y="3566160"/>
            <a:ext cx="3749039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NLP + Machine Learning Classifier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9464040" y="4389120"/>
            <a:ext cx="457200" cy="457200"/>
          </a:xfrm>
          <a:prstGeom prst="downArrow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818120" y="4937760"/>
            <a:ext cx="1783080" cy="685800"/>
          </a:xfrm>
          <a:prstGeom prst="round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18120" y="4937760"/>
            <a:ext cx="17830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>
                <a:solidFill>
                  <a:srgbClr val="3D2030"/>
                </a:solidFill>
                <a:latin typeface="Calibri"/>
              </a:rPr>
              <a:t>DISASTER  (1)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84080" y="4937760"/>
            <a:ext cx="1783080" cy="685800"/>
          </a:xfrm>
          <a:prstGeom prst="roundRect">
            <a:avLst/>
          </a:prstGeom>
          <a:solidFill>
            <a:srgbClr val="593148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84080" y="4937760"/>
            <a:ext cx="17830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200" b="1">
                <a:solidFill>
                  <a:srgbClr val="E4C59D"/>
                </a:solidFill>
                <a:latin typeface="Calibri"/>
              </a:rPr>
              <a:t>NON-DISASTER  (0)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D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1">
                <a:solidFill>
                  <a:srgbClr val="D1A978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Georgia"/>
              </a:rPr>
              <a:t>Project Overview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1">
                <a:solidFill>
                  <a:srgbClr val="75465B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75465B"/>
                </a:solidFill>
                <a:latin typeface="Calibri"/>
              </a:rPr>
              <a:t>Disaster Tweet Classification  ·  NLP &amp;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>
                <a:solidFill>
                  <a:srgbClr val="593148"/>
                </a:solidFill>
                <a:latin typeface="Georgia"/>
              </a:rPr>
              <a:t>Objective &amp;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66928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classify each tweet as a real disaster (1) or non-disaster (0)</a:t>
            </a:r>
          </a:p>
          <a:p>
            <a:pPr algn="just">
              <a:spcAft>
                <a:spcPts val="4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need: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 emergency teams spot genuine incidents among millions of noisy social-media posts</a:t>
            </a:r>
          </a:p>
          <a:p>
            <a:pPr algn="just">
              <a:spcAft>
                <a:spcPts val="4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7,613 hand-labelled tweets with keyword, location, text and target</a:t>
            </a:r>
          </a:p>
          <a:p>
            <a:pPr algn="just">
              <a:spcAft>
                <a:spcPts val="4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disaster words are often used figuratively, e.g. "this song is fire"</a:t>
            </a:r>
          </a:p>
          <a:p>
            <a:pPr algn="just">
              <a:spcAft>
                <a:spcPts val="4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classical NLP with TF-IDF features and linear and tree-based models</a:t>
            </a:r>
          </a:p>
          <a:p>
            <a:pPr algn="just">
              <a:spcAft>
                <a:spcPts val="4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principle: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leakage-safe pipeline with a protected, untouched test set</a:t>
            </a:r>
          </a:p>
          <a:p>
            <a:pPr algn="just">
              <a:spcAft>
                <a:spcPts val="4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metrics: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 and F1, since a missed disaster costs more than a false alarm</a:t>
            </a:r>
          </a:p>
          <a:p>
            <a:pPr algn="just">
              <a:spcAft>
                <a:spcPts val="4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5-fold stratified cross-validation, robustness and subgroup testing</a:t>
            </a:r>
          </a:p>
          <a:p>
            <a:pPr algn="just">
              <a:spcAft>
                <a:spcPts val="4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Deliverables: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trained model, Flask REST API and </a:t>
            </a:r>
            <a:r>
              <a:rPr sz="1400" dirty="0" err="1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web application</a:t>
            </a:r>
          </a:p>
          <a:p>
            <a:pPr algn="just">
              <a:spcAft>
                <a:spcPts val="4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Reproducibility: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random seed (42), versioned model and logged runs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234440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>
                <a:solidFill>
                  <a:srgbClr val="593148"/>
                </a:solidFill>
                <a:latin typeface="Georgia"/>
              </a:rPr>
              <a:t>Pipeline Stages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691640"/>
            <a:ext cx="24231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492240" y="1691640"/>
            <a:ext cx="502920" cy="621792"/>
          </a:xfrm>
          <a:prstGeom prst="rect">
            <a:avLst/>
          </a:prstGeom>
          <a:solidFill>
            <a:srgbClr val="593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92240" y="1897892"/>
            <a:ext cx="502920" cy="2092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just"/>
            <a:r>
              <a:rPr sz="1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79" y="1897892"/>
            <a:ext cx="1828800" cy="2092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just"/>
            <a:r>
              <a:rPr sz="1000" b="1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59" y="1691640"/>
            <a:ext cx="24231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052559" y="1691640"/>
            <a:ext cx="502920" cy="621792"/>
          </a:xfrm>
          <a:prstGeom prst="rect">
            <a:avLst/>
          </a:prstGeom>
          <a:solidFill>
            <a:srgbClr val="754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52559" y="1897892"/>
            <a:ext cx="502920" cy="2092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just"/>
            <a:r>
              <a:rPr sz="1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199" y="1897892"/>
            <a:ext cx="1828800" cy="2092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just"/>
            <a:r>
              <a:rPr sz="1000" b="1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423160"/>
            <a:ext cx="24231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92240" y="2423160"/>
            <a:ext cx="502920" cy="621792"/>
          </a:xfrm>
          <a:prstGeom prst="rect">
            <a:avLst/>
          </a:prstGeom>
          <a:solidFill>
            <a:srgbClr val="593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92240" y="2629412"/>
            <a:ext cx="502920" cy="2092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just"/>
            <a:r>
              <a:rPr sz="1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79" y="2629412"/>
            <a:ext cx="1828800" cy="2092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just"/>
            <a:r>
              <a:rPr sz="1000" b="1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59" y="2423160"/>
            <a:ext cx="24231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052559" y="2423160"/>
            <a:ext cx="502920" cy="621792"/>
          </a:xfrm>
          <a:prstGeom prst="rect">
            <a:avLst/>
          </a:prstGeom>
          <a:solidFill>
            <a:srgbClr val="754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052559" y="2629412"/>
            <a:ext cx="502920" cy="2092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just"/>
            <a:r>
              <a:rPr sz="1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199" y="2629412"/>
            <a:ext cx="1828800" cy="2092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just"/>
            <a:r>
              <a:rPr sz="1000" b="1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 &amp; Tuning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154680"/>
            <a:ext cx="24231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492240" y="3154680"/>
            <a:ext cx="502920" cy="621792"/>
          </a:xfrm>
          <a:prstGeom prst="rect">
            <a:avLst/>
          </a:prstGeom>
          <a:solidFill>
            <a:srgbClr val="593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92240" y="3360932"/>
            <a:ext cx="502920" cy="2092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just"/>
            <a:r>
              <a:rPr sz="1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79" y="3360932"/>
            <a:ext cx="1828800" cy="2092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just"/>
            <a:r>
              <a:rPr sz="1000" b="1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Evaluation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2559" y="3154680"/>
            <a:ext cx="24231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052559" y="3154680"/>
            <a:ext cx="502920" cy="621792"/>
          </a:xfrm>
          <a:prstGeom prst="rect">
            <a:avLst/>
          </a:prstGeom>
          <a:solidFill>
            <a:srgbClr val="754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052559" y="3360932"/>
            <a:ext cx="502920" cy="2092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just"/>
            <a:r>
              <a:rPr sz="1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199" y="3360932"/>
            <a:ext cx="1828800" cy="2092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just"/>
            <a:r>
              <a:rPr sz="1000" b="1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&amp; Robustness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3886200"/>
            <a:ext cx="24231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492240" y="3886200"/>
            <a:ext cx="502920" cy="621792"/>
          </a:xfrm>
          <a:prstGeom prst="rect">
            <a:avLst/>
          </a:prstGeom>
          <a:solidFill>
            <a:srgbClr val="593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92240" y="4092452"/>
            <a:ext cx="502920" cy="2092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just"/>
            <a:r>
              <a:rPr sz="1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79" y="4092452"/>
            <a:ext cx="1828800" cy="2092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just"/>
            <a:r>
              <a:rPr sz="1000" b="1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 API Deployment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52559" y="3886200"/>
            <a:ext cx="24231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052559" y="3886200"/>
            <a:ext cx="502920" cy="621792"/>
          </a:xfrm>
          <a:prstGeom prst="rect">
            <a:avLst/>
          </a:prstGeom>
          <a:solidFill>
            <a:srgbClr val="754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052559" y="4092452"/>
            <a:ext cx="502920" cy="2092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just"/>
            <a:r>
              <a:rPr sz="1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199" y="4092452"/>
            <a:ext cx="1828800" cy="2092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just"/>
            <a:r>
              <a:rPr sz="1000" b="1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 Interface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4754880"/>
            <a:ext cx="15697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492240" y="4754880"/>
            <a:ext cx="1569720" cy="54864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492240" y="4864608"/>
            <a:ext cx="156972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just"/>
            <a:r>
              <a:rPr sz="10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7,613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5321808"/>
            <a:ext cx="156972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just"/>
            <a:r>
              <a:rPr sz="1000" b="0">
                <a:solidFill>
                  <a:srgbClr val="7546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Tweets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99120" y="4754880"/>
            <a:ext cx="15697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8199120" y="4754880"/>
            <a:ext cx="1569720" cy="54864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199120" y="4864608"/>
            <a:ext cx="156972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just"/>
            <a:r>
              <a:rPr sz="10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32,136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99120" y="5321808"/>
            <a:ext cx="156972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just"/>
            <a:r>
              <a:rPr sz="1000" b="0">
                <a:solidFill>
                  <a:srgbClr val="7546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05999" y="4754880"/>
            <a:ext cx="15697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905999" y="4754880"/>
            <a:ext cx="1569720" cy="54864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905999" y="4864608"/>
            <a:ext cx="156972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just"/>
            <a:r>
              <a:rPr sz="10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0.747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05999" y="5321808"/>
            <a:ext cx="156972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just"/>
            <a:r>
              <a:rPr sz="1000" b="0">
                <a:solidFill>
                  <a:srgbClr val="7546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F1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solidFill>
            <a:srgbClr val="3D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48640" y="5806440"/>
            <a:ext cx="73152" cy="502920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0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31520" y="5949409"/>
            <a:ext cx="1554480" cy="21698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just"/>
            <a:r>
              <a:rPr sz="1050" b="1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TAKEAWAY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94560" y="5806440"/>
            <a:ext cx="93268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0" dirty="0">
                <a:solidFill>
                  <a:srgbClr val="FFFFFF"/>
                </a:solidFill>
                <a:latin typeface="Calibri"/>
              </a:rPr>
              <a:t>Each stage is built so that test data never influences training, giving an honest estimate of real-world performance.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D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1">
                <a:solidFill>
                  <a:srgbClr val="D1A978"/>
                </a:solidFill>
                <a:latin typeface="Calibri"/>
              </a:rPr>
              <a:t>TASK 1 · DATA EXPLORATION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Georgia"/>
              </a:rPr>
              <a:t>Dataset Overview &amp; Data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548640" cy="21698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just"/>
            <a:r>
              <a:rPr sz="1050" b="1">
                <a:solidFill>
                  <a:srgbClr val="7546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7315200" cy="21698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just"/>
            <a:r>
              <a:rPr sz="1050" b="0">
                <a:solidFill>
                  <a:srgbClr val="7546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Disaster Tweet Classification  ·  NLP &amp; Machine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3" y="1572943"/>
            <a:ext cx="3608832" cy="1243233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9519"/>
            <a:ext cx="3535680" cy="11700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3136391"/>
            <a:ext cx="3535680" cy="22467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just"/>
            <a:r>
              <a:rPr sz="1100" b="0">
                <a:solidFill>
                  <a:srgbClr val="7546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first five observations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2470" y="1243584"/>
            <a:ext cx="3276579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1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046" y="1280160"/>
            <a:ext cx="3203427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12920" y="3136391"/>
            <a:ext cx="3535680" cy="22467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just"/>
            <a:r>
              <a:rPr sz="1100" b="0">
                <a:solidFill>
                  <a:srgbClr val="7546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missing-value summary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0624" y="1626476"/>
            <a:ext cx="3608832" cy="1136166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18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1663052"/>
            <a:ext cx="3535680" cy="106301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77200" y="3136391"/>
            <a:ext cx="3535680" cy="22467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just"/>
            <a:r>
              <a:rPr sz="1100" b="0">
                <a:solidFill>
                  <a:srgbClr val="7546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class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74720"/>
            <a:ext cx="5440680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</a:pPr>
            <a:r>
              <a:rPr sz="10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7,613 records, 5 variables, 38,065 data points</a:t>
            </a:r>
          </a:p>
          <a:p>
            <a:pPr algn="just">
              <a:spcAft>
                <a:spcPts val="300"/>
              </a:spcAft>
            </a:pPr>
            <a:r>
              <a:rPr sz="10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id, keyword (221 unique), location (3,293 unique), text (7,503 unique), target</a:t>
            </a:r>
          </a:p>
          <a:p>
            <a:pPr algn="just">
              <a:spcAft>
                <a:spcPts val="300"/>
              </a:spcAft>
            </a:pPr>
            <a:r>
              <a:rPr sz="10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3,271 disaster and 4,342 non-disaster tweets</a:t>
            </a:r>
          </a:p>
          <a:p>
            <a:pPr algn="just">
              <a:spcAft>
                <a:spcPts val="300"/>
              </a:spcAft>
            </a:pPr>
            <a:r>
              <a:rPr sz="10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Typical tweet: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17 words and 101 characters</a:t>
            </a:r>
          </a:p>
          <a:p>
            <a:pPr algn="just">
              <a:spcAft>
                <a:spcPts val="300"/>
              </a:spcAft>
            </a:pPr>
            <a:r>
              <a:rPr sz="10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Safeguard: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copy of raw data preserved before any change</a:t>
            </a:r>
          </a:p>
          <a:p>
            <a:pPr algn="just">
              <a:spcAft>
                <a:spcPts val="300"/>
              </a:spcAft>
            </a:pPr>
            <a:r>
              <a:rPr sz="10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Duplicates: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duplicate rows, but 110 repeated tweet texts</a:t>
            </a:r>
          </a:p>
          <a:p>
            <a:pPr algn="just">
              <a:spcAft>
                <a:spcPts val="300"/>
              </a:spcAft>
            </a:pPr>
            <a:r>
              <a:rPr sz="10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Keyword values: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221 distinct keywords; 61 tweets have 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474720"/>
            <a:ext cx="5440680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Completeness: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93.18% filled; 2,595 missing values (6.82%)</a:t>
            </a:r>
          </a:p>
          <a:p>
            <a:pPr algn="just">
              <a:spcAft>
                <a:spcPts val="3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</a:t>
            </a:r>
            <a:r>
              <a:rPr lang="en-IN"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 / keyword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33.29% and 0.80% missing; text and target complete</a:t>
            </a:r>
          </a:p>
          <a:p>
            <a:pPr algn="just">
              <a:spcAft>
                <a:spcPts val="3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 validity: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contains only binary values 0 and 1</a:t>
            </a:r>
          </a:p>
          <a:p>
            <a:pPr algn="just">
              <a:spcAft>
                <a:spcPts val="3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balance: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57.03% vs 42.97% (ratio 1.33:1), a moderate imbalance</a:t>
            </a:r>
          </a:p>
          <a:p>
            <a:pPr algn="just">
              <a:spcAft>
                <a:spcPts val="3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stratified sampling; F1, precision, recall and ROC-AUC as metrics</a:t>
            </a:r>
          </a:p>
          <a:p>
            <a:pPr algn="just">
              <a:spcAft>
                <a:spcPts val="3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Treatment: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explicit placeholders for missing keyword and location</a:t>
            </a:r>
          </a:p>
          <a:p>
            <a:pPr algn="just">
              <a:spcAft>
                <a:spcPts val="3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and target: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missing or blank values in any of the 7,613 records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solidFill>
            <a:srgbClr val="3D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5806440"/>
            <a:ext cx="73152" cy="502920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5945562"/>
            <a:ext cx="1554480" cy="22467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just"/>
            <a:r>
              <a:rPr sz="1100" b="1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TAKEAWAY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5922479"/>
            <a:ext cx="9326880" cy="270843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just"/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tweet text carries the signal; missing metadata, repeated texts and mild imbalance shape the design choices that follow.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D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1">
                <a:solidFill>
                  <a:srgbClr val="D1A978"/>
                </a:solidFill>
                <a:latin typeface="Calibri"/>
              </a:rPr>
              <a:t>TASK 1 · DATA EXPLORATION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Georgia"/>
              </a:rPr>
              <a:t>Keyword &amp; Phrase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1">
                <a:solidFill>
                  <a:srgbClr val="75465B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75465B"/>
                </a:solidFill>
                <a:latin typeface="Calibri"/>
              </a:rPr>
              <a:t>Disaster Tweet Classification  ·  NLP &amp; Machine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3566160" cy="365760"/>
          </a:xfrm>
          <a:prstGeom prst="rect">
            <a:avLst/>
          </a:prstGeom>
          <a:solidFill>
            <a:srgbClr val="593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356616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Top Disaster Keywords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356616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36576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50" b="1">
                <a:solidFill>
                  <a:srgbClr val="75465B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645920"/>
            <a:ext cx="210312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>
                <a:solidFill>
                  <a:srgbClr val="332C30"/>
                </a:solidFill>
                <a:latin typeface="Calibri"/>
              </a:rPr>
              <a:t>fire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645920"/>
            <a:ext cx="114300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>
                <a:solidFill>
                  <a:srgbClr val="593148"/>
                </a:solidFill>
                <a:latin typeface="Calibri"/>
              </a:rPr>
              <a:t>182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938528"/>
            <a:ext cx="3566160" cy="292608"/>
          </a:xfrm>
          <a:prstGeom prst="rect">
            <a:avLst/>
          </a:prstGeom>
          <a:solidFill>
            <a:srgbClr val="F5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938528"/>
            <a:ext cx="36576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50" b="1">
                <a:solidFill>
                  <a:srgbClr val="75465B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1938528"/>
            <a:ext cx="210312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>
                <a:solidFill>
                  <a:srgbClr val="332C30"/>
                </a:solidFill>
                <a:latin typeface="Calibri"/>
              </a:rPr>
              <a:t>after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1938528"/>
            <a:ext cx="114300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>
                <a:solidFill>
                  <a:srgbClr val="593148"/>
                </a:solidFill>
                <a:latin typeface="Calibri"/>
              </a:rPr>
              <a:t>181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231136"/>
            <a:ext cx="356616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2231136"/>
            <a:ext cx="36576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50" b="1">
                <a:solidFill>
                  <a:srgbClr val="75465B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231136"/>
            <a:ext cx="210312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>
                <a:solidFill>
                  <a:srgbClr val="332C30"/>
                </a:solidFill>
                <a:latin typeface="Calibri"/>
              </a:rPr>
              <a:t>news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2231136"/>
            <a:ext cx="114300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>
                <a:solidFill>
                  <a:srgbClr val="593148"/>
                </a:solidFill>
                <a:latin typeface="Calibri"/>
              </a:rPr>
              <a:t>137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523744"/>
            <a:ext cx="3566160" cy="292608"/>
          </a:xfrm>
          <a:prstGeom prst="rect">
            <a:avLst/>
          </a:prstGeom>
          <a:solidFill>
            <a:srgbClr val="F5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2523744"/>
            <a:ext cx="36576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50" b="1">
                <a:solidFill>
                  <a:srgbClr val="75465B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2523744"/>
            <a:ext cx="210312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>
                <a:solidFill>
                  <a:srgbClr val="332C30"/>
                </a:solidFill>
                <a:latin typeface="Calibri"/>
              </a:rPr>
              <a:t>disaster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2523744"/>
            <a:ext cx="114300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>
                <a:solidFill>
                  <a:srgbClr val="593148"/>
                </a:solidFill>
                <a:latin typeface="Calibri"/>
              </a:rPr>
              <a:t>121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816352"/>
            <a:ext cx="356616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2816352"/>
            <a:ext cx="36576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50" b="1">
                <a:solidFill>
                  <a:srgbClr val="75465B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2816352"/>
            <a:ext cx="210312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>
                <a:solidFill>
                  <a:srgbClr val="332C30"/>
                </a:solidFill>
                <a:latin typeface="Calibri"/>
              </a:rPr>
              <a:t>california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2816352"/>
            <a:ext cx="114300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>
                <a:solidFill>
                  <a:srgbClr val="593148"/>
                </a:solidFill>
                <a:latin typeface="Calibri"/>
              </a:rPr>
              <a:t>115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108960"/>
            <a:ext cx="3566160" cy="292608"/>
          </a:xfrm>
          <a:prstGeom prst="rect">
            <a:avLst/>
          </a:prstGeom>
          <a:solidFill>
            <a:srgbClr val="F5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3108960"/>
            <a:ext cx="36576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50" b="1">
                <a:solidFill>
                  <a:srgbClr val="75465B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3108960"/>
            <a:ext cx="210312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>
                <a:solidFill>
                  <a:srgbClr val="332C30"/>
                </a:solidFill>
                <a:latin typeface="Calibri"/>
              </a:rPr>
              <a:t>suicide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3108960"/>
            <a:ext cx="114300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>
                <a:solidFill>
                  <a:srgbClr val="593148"/>
                </a:solidFill>
                <a:latin typeface="Calibri"/>
              </a:rPr>
              <a:t>112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401568"/>
            <a:ext cx="356616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" y="3401568"/>
            <a:ext cx="36576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50" b="1">
                <a:solidFill>
                  <a:srgbClr val="75465B"/>
                </a:solidFill>
                <a:latin typeface="Calibri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3401568"/>
            <a:ext cx="210312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>
                <a:solidFill>
                  <a:srgbClr val="332C30"/>
                </a:solidFill>
                <a:latin typeface="Calibri"/>
              </a:rPr>
              <a:t>police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3401568"/>
            <a:ext cx="114300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>
                <a:solidFill>
                  <a:srgbClr val="593148"/>
                </a:solidFill>
                <a:latin typeface="Calibri"/>
              </a:rPr>
              <a:t>109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694176"/>
            <a:ext cx="3566160" cy="292608"/>
          </a:xfrm>
          <a:prstGeom prst="rect">
            <a:avLst/>
          </a:prstGeom>
          <a:solidFill>
            <a:srgbClr val="F5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4360" y="3694176"/>
            <a:ext cx="36576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50" b="1">
                <a:solidFill>
                  <a:srgbClr val="75465B"/>
                </a:solidFill>
                <a:latin typeface="Calibri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3694176"/>
            <a:ext cx="210312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>
                <a:solidFill>
                  <a:srgbClr val="332C30"/>
                </a:solidFill>
                <a:latin typeface="Calibri"/>
              </a:rPr>
              <a:t>killed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3694176"/>
            <a:ext cx="114300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>
                <a:solidFill>
                  <a:srgbClr val="593148"/>
                </a:solidFill>
                <a:latin typeface="Calibri"/>
              </a:rPr>
              <a:t>95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3986784"/>
            <a:ext cx="356616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4360" y="3986784"/>
            <a:ext cx="36576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50" b="1">
                <a:solidFill>
                  <a:srgbClr val="75465B"/>
                </a:solidFill>
                <a:latin typeface="Calibri"/>
              </a:rPr>
              <a:t>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3986784"/>
            <a:ext cx="210312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>
                <a:solidFill>
                  <a:srgbClr val="332C30"/>
                </a:solidFill>
                <a:latin typeface="Calibri"/>
              </a:rPr>
              <a:t>hiroshima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26080" y="3986784"/>
            <a:ext cx="114300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>
                <a:solidFill>
                  <a:srgbClr val="593148"/>
                </a:solidFill>
                <a:latin typeface="Calibri"/>
              </a:rPr>
              <a:t>92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279392"/>
            <a:ext cx="3566160" cy="292608"/>
          </a:xfrm>
          <a:prstGeom prst="rect">
            <a:avLst/>
          </a:prstGeom>
          <a:solidFill>
            <a:srgbClr val="F5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4360" y="4279392"/>
            <a:ext cx="36576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50" b="1">
                <a:solidFill>
                  <a:srgbClr val="75465B"/>
                </a:solidFill>
                <a:latin typeface="Calibri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4279392"/>
            <a:ext cx="210312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>
                <a:solidFill>
                  <a:srgbClr val="332C30"/>
                </a:solidFill>
                <a:latin typeface="Calibri"/>
              </a:rPr>
              <a:t>storm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26080" y="4279392"/>
            <a:ext cx="114300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>
                <a:solidFill>
                  <a:srgbClr val="593148"/>
                </a:solidFill>
                <a:latin typeface="Calibri"/>
              </a:rPr>
              <a:t>89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97680" y="1280160"/>
            <a:ext cx="3566160" cy="365760"/>
          </a:xfrm>
          <a:prstGeom prst="rect">
            <a:avLst/>
          </a:prstGeom>
          <a:solidFill>
            <a:srgbClr val="754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297680" y="1280160"/>
            <a:ext cx="356616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Top Non-Disaster Keywords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97680" y="1645920"/>
            <a:ext cx="356616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343400" y="1645920"/>
            <a:ext cx="36576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50" b="1">
                <a:solidFill>
                  <a:srgbClr val="75465B"/>
                </a:solidFill>
                <a:latin typeface="Calibri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09160" y="1645920"/>
            <a:ext cx="210312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>
                <a:solidFill>
                  <a:srgbClr val="332C30"/>
                </a:solidFill>
                <a:latin typeface="Calibri"/>
              </a:rPr>
              <a:t>like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20" y="1645920"/>
            <a:ext cx="114300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>
                <a:solidFill>
                  <a:srgbClr val="593148"/>
                </a:solidFill>
                <a:latin typeface="Calibri"/>
              </a:rPr>
              <a:t>254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97680" y="1938528"/>
            <a:ext cx="3566160" cy="292608"/>
          </a:xfrm>
          <a:prstGeom prst="rect">
            <a:avLst/>
          </a:prstGeom>
          <a:solidFill>
            <a:srgbClr val="F5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343400" y="1938528"/>
            <a:ext cx="36576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50" b="1">
                <a:solidFill>
                  <a:srgbClr val="75465B"/>
                </a:solidFill>
                <a:latin typeface="Calibri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09160" y="1938528"/>
            <a:ext cx="210312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>
                <a:solidFill>
                  <a:srgbClr val="332C30"/>
                </a:solidFill>
                <a:latin typeface="Calibri"/>
              </a:rPr>
              <a:t>amp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75120" y="1938528"/>
            <a:ext cx="114300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>
                <a:solidFill>
                  <a:srgbClr val="593148"/>
                </a:solidFill>
                <a:latin typeface="Calibri"/>
              </a:rPr>
              <a:t>209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97680" y="2231136"/>
            <a:ext cx="356616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343400" y="2231136"/>
            <a:ext cx="36576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50" b="1">
                <a:solidFill>
                  <a:srgbClr val="75465B"/>
                </a:solidFill>
                <a:latin typeface="Calibri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09160" y="2231136"/>
            <a:ext cx="210312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>
                <a:solidFill>
                  <a:srgbClr val="332C30"/>
                </a:solidFill>
                <a:latin typeface="Calibri"/>
              </a:rPr>
              <a:t>new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75120" y="2231136"/>
            <a:ext cx="114300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>
                <a:solidFill>
                  <a:srgbClr val="593148"/>
                </a:solidFill>
                <a:latin typeface="Calibri"/>
              </a:rPr>
              <a:t>170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97680" y="2523744"/>
            <a:ext cx="3566160" cy="292608"/>
          </a:xfrm>
          <a:prstGeom prst="rect">
            <a:avLst/>
          </a:prstGeom>
          <a:solidFill>
            <a:srgbClr val="F5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343400" y="2523744"/>
            <a:ext cx="36576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50" b="1">
                <a:solidFill>
                  <a:srgbClr val="75465B"/>
                </a:solidFill>
                <a:latin typeface="Calibri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09160" y="2523744"/>
            <a:ext cx="210312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>
                <a:solidFill>
                  <a:srgbClr val="332C30"/>
                </a:solidFill>
                <a:latin typeface="Calibri"/>
              </a:rPr>
              <a:t>get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75120" y="2523744"/>
            <a:ext cx="114300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>
                <a:solidFill>
                  <a:srgbClr val="593148"/>
                </a:solidFill>
                <a:latin typeface="Calibri"/>
              </a:rPr>
              <a:t>163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97680" y="2816352"/>
            <a:ext cx="356616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343400" y="2816352"/>
            <a:ext cx="36576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50" b="1">
                <a:solidFill>
                  <a:srgbClr val="75465B"/>
                </a:solidFill>
                <a:latin typeface="Calibri"/>
              </a:rPr>
              <a:t>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09160" y="2816352"/>
            <a:ext cx="210312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>
                <a:solidFill>
                  <a:srgbClr val="332C30"/>
                </a:solidFill>
                <a:latin typeface="Calibri"/>
              </a:rPr>
              <a:t>now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75120" y="2816352"/>
            <a:ext cx="114300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>
                <a:solidFill>
                  <a:srgbClr val="593148"/>
                </a:solidFill>
                <a:latin typeface="Calibri"/>
              </a:rPr>
              <a:t>147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97680" y="3108960"/>
            <a:ext cx="3566160" cy="292608"/>
          </a:xfrm>
          <a:prstGeom prst="rect">
            <a:avLst/>
          </a:prstGeom>
          <a:solidFill>
            <a:srgbClr val="F5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343400" y="3108960"/>
            <a:ext cx="36576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50" b="1">
                <a:solidFill>
                  <a:srgbClr val="75465B"/>
                </a:solidFill>
                <a:latin typeface="Calibri"/>
              </a:rPr>
              <a:t>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09160" y="3108960"/>
            <a:ext cx="210312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>
                <a:solidFill>
                  <a:srgbClr val="332C30"/>
                </a:solidFill>
                <a:latin typeface="Calibri"/>
              </a:rPr>
              <a:t>one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75120" y="3108960"/>
            <a:ext cx="114300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>
                <a:solidFill>
                  <a:srgbClr val="593148"/>
                </a:solidFill>
                <a:latin typeface="Calibri"/>
              </a:rPr>
              <a:t>131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297680" y="3401568"/>
            <a:ext cx="356616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343400" y="3401568"/>
            <a:ext cx="36576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50" b="1">
                <a:solidFill>
                  <a:srgbClr val="75465B"/>
                </a:solidFill>
                <a:latin typeface="Calibri"/>
              </a:rPr>
              <a:t>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709160" y="3401568"/>
            <a:ext cx="210312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>
                <a:solidFill>
                  <a:srgbClr val="332C30"/>
                </a:solidFill>
                <a:latin typeface="Calibri"/>
              </a:rPr>
              <a:t>body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75120" y="3401568"/>
            <a:ext cx="114300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>
                <a:solidFill>
                  <a:srgbClr val="593148"/>
                </a:solidFill>
                <a:latin typeface="Calibri"/>
              </a:rPr>
              <a:t>116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97680" y="3694176"/>
            <a:ext cx="3566160" cy="292608"/>
          </a:xfrm>
          <a:prstGeom prst="rect">
            <a:avLst/>
          </a:prstGeom>
          <a:solidFill>
            <a:srgbClr val="F5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343400" y="3694176"/>
            <a:ext cx="36576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50" b="1">
                <a:solidFill>
                  <a:srgbClr val="75465B"/>
                </a:solidFill>
                <a:latin typeface="Calibri"/>
              </a:rPr>
              <a:t>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09160" y="3694176"/>
            <a:ext cx="210312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>
                <a:solidFill>
                  <a:srgbClr val="332C30"/>
                </a:solidFill>
                <a:latin typeface="Calibri"/>
              </a:rPr>
              <a:t>video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75120" y="3694176"/>
            <a:ext cx="114300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>
                <a:solidFill>
                  <a:srgbClr val="593148"/>
                </a:solidFill>
                <a:latin typeface="Calibri"/>
              </a:rPr>
              <a:t>96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97680" y="3986784"/>
            <a:ext cx="356616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343400" y="3986784"/>
            <a:ext cx="36576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50" b="1">
                <a:solidFill>
                  <a:srgbClr val="75465B"/>
                </a:solidFill>
                <a:latin typeface="Calibri"/>
              </a:rPr>
              <a:t>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709160" y="3986784"/>
            <a:ext cx="210312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>
                <a:solidFill>
                  <a:srgbClr val="332C30"/>
                </a:solidFill>
                <a:latin typeface="Calibri"/>
              </a:rPr>
              <a:t>love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75120" y="3986784"/>
            <a:ext cx="114300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>
                <a:solidFill>
                  <a:srgbClr val="593148"/>
                </a:solidFill>
                <a:latin typeface="Calibri"/>
              </a:rPr>
              <a:t>90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97680" y="4279392"/>
            <a:ext cx="3566160" cy="292608"/>
          </a:xfrm>
          <a:prstGeom prst="rect">
            <a:avLst/>
          </a:prstGeom>
          <a:solidFill>
            <a:srgbClr val="F5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343400" y="4279392"/>
            <a:ext cx="36576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50" b="1">
                <a:solidFill>
                  <a:srgbClr val="75465B"/>
                </a:solidFill>
                <a:latin typeface="Calibri"/>
              </a:rPr>
              <a:t>10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709160" y="4279392"/>
            <a:ext cx="210312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>
                <a:solidFill>
                  <a:srgbClr val="332C30"/>
                </a:solidFill>
                <a:latin typeface="Calibri"/>
              </a:rPr>
              <a:t>day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75120" y="4279392"/>
            <a:ext cx="114300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>
                <a:solidFill>
                  <a:srgbClr val="593148"/>
                </a:solidFill>
                <a:latin typeface="Calibri"/>
              </a:rPr>
              <a:t>86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092440" y="1280160"/>
            <a:ext cx="3566160" cy="3898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</a:pPr>
            <a:r>
              <a:rPr sz="14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Vocabulary size: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7,458 unique disaster keywords vs 9,737 non-disaster</a:t>
            </a:r>
          </a:p>
          <a:p>
            <a:pPr algn="just">
              <a:spcAft>
                <a:spcPts val="400"/>
              </a:spcAft>
            </a:pPr>
            <a:r>
              <a:rPr sz="14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Disaster terms: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events and consequences (fire, suicide, police, killed, storm)</a:t>
            </a:r>
          </a:p>
          <a:p>
            <a:pPr algn="just">
              <a:spcAft>
                <a:spcPts val="400"/>
              </a:spcAft>
            </a:pPr>
            <a:r>
              <a:rPr sz="14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Non-disaster terms: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casual conversation (like, love, get, now, day)</a:t>
            </a:r>
          </a:p>
          <a:p>
            <a:pPr algn="just">
              <a:spcAft>
                <a:spcPts val="400"/>
              </a:spcAft>
            </a:pPr>
            <a:r>
              <a:rPr sz="14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bigram: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encoded URL fragment leads both classes (109 vs 108)</a:t>
            </a:r>
          </a:p>
          <a:p>
            <a:pPr algn="just">
              <a:spcAft>
                <a:spcPts val="400"/>
              </a:spcAft>
            </a:pPr>
            <a:r>
              <a:rPr sz="14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trigram, disaster: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"suicide bomber detonated" (30)</a:t>
            </a:r>
          </a:p>
          <a:p>
            <a:pPr algn="just">
              <a:spcAft>
                <a:spcPts val="400"/>
              </a:spcAft>
            </a:pPr>
            <a:r>
              <a:rPr sz="14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trigram, other: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"liked youtube video" (35)</a:t>
            </a:r>
          </a:p>
          <a:p>
            <a:pPr algn="just">
              <a:spcAft>
                <a:spcPts val="400"/>
              </a:spcAft>
            </a:pPr>
            <a:r>
              <a:rPr sz="14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Overlap: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"people", "via", "more" appear in both classes</a:t>
            </a:r>
          </a:p>
          <a:p>
            <a:pPr algn="just">
              <a:spcAft>
                <a:spcPts val="400"/>
              </a:spcAft>
            </a:pPr>
            <a:r>
              <a:rPr sz="14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Implication: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and phrases are needed, not single words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48640" y="4663440"/>
            <a:ext cx="731520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</a:pPr>
            <a:r>
              <a:rPr sz="9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2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matters: </a:t>
            </a:r>
            <a:r>
              <a:rPr sz="12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overlapping vocabulary means a keyword list alone would raise many false alarms</a:t>
            </a:r>
          </a:p>
          <a:p>
            <a:pPr algn="just">
              <a:spcAft>
                <a:spcPts val="300"/>
              </a:spcAft>
            </a:pPr>
            <a:r>
              <a:rPr sz="9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2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response: </a:t>
            </a:r>
            <a:r>
              <a:rPr sz="12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and phrase TF-IDF (1–2 grams), character n-grams and domain lexicon features</a:t>
            </a:r>
          </a:p>
          <a:p>
            <a:pPr algn="just">
              <a:spcAft>
                <a:spcPts val="300"/>
              </a:spcAft>
            </a:pPr>
            <a:r>
              <a:rPr sz="9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2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 note: </a:t>
            </a:r>
            <a:r>
              <a:rPr sz="12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"amp" and URL fragments are artefacts, removed during cleaning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solidFill>
            <a:srgbClr val="3D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548640" y="5806440"/>
            <a:ext cx="73152" cy="502920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31520" y="5806440"/>
            <a:ext cx="15544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050" b="1">
                <a:solidFill>
                  <a:srgbClr val="D1A978"/>
                </a:solidFill>
                <a:latin typeface="Calibri"/>
              </a:rPr>
              <a:t>KEY TAKEAWAY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194560" y="5934020"/>
            <a:ext cx="9326880" cy="247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just"/>
            <a:r>
              <a:rPr sz="125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keywords are not enough: shared vocabulary means the model must use context, phrases and sub-word patterns.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D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1">
                <a:solidFill>
                  <a:srgbClr val="D1A978"/>
                </a:solidFill>
                <a:latin typeface="Calibri"/>
              </a:rPr>
              <a:t>TASK 2 · 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Georgia"/>
              </a:rPr>
              <a:t>Text Preprocessing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1">
                <a:solidFill>
                  <a:srgbClr val="75465B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75465B"/>
                </a:solidFill>
                <a:latin typeface="Calibri"/>
              </a:rPr>
              <a:t>Disaster Tweet Classification  ·  NLP &amp; Machine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3" y="1782151"/>
            <a:ext cx="5193792" cy="3065096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32_0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18727"/>
            <a:ext cx="5120640" cy="29919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367528"/>
            <a:ext cx="5120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75465B"/>
                </a:solidFill>
                <a:latin typeface="Calibri"/>
              </a:rPr>
              <a:t>Output: raw tweet quality profile (% of tweets affected)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599" y="1280160"/>
            <a:ext cx="56692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</a:pPr>
            <a:r>
              <a:rPr sz="105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 audit: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URLs 52.2%, mentions 26.4%, hashtags 22.9%, HTML entities 4.7%</a:t>
            </a:r>
          </a:p>
          <a:p>
            <a:pPr algn="just">
              <a:spcAft>
                <a:spcPts val="400"/>
              </a:spcAft>
            </a:pPr>
            <a:r>
              <a:rPr sz="105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Cleaning: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98.8% of tweets </a:t>
            </a:r>
            <a:r>
              <a:rPr sz="1400" dirty="0" err="1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normalised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(HTML decoded, lower-cased)</a:t>
            </a:r>
          </a:p>
          <a:p>
            <a:pPr algn="just">
              <a:spcAft>
                <a:spcPts val="400"/>
              </a:spcAft>
            </a:pPr>
            <a:r>
              <a:rPr sz="105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Removed: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URLs and @mentions; hashtag symbol dropped but word kept</a:t>
            </a:r>
          </a:p>
          <a:p>
            <a:pPr algn="just">
              <a:spcAft>
                <a:spcPts val="400"/>
              </a:spcAft>
            </a:pPr>
            <a:r>
              <a:rPr sz="105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Counts kept: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URL, mention and uppercase counts retained as features</a:t>
            </a:r>
          </a:p>
          <a:p>
            <a:pPr algn="just">
              <a:spcAft>
                <a:spcPts val="400"/>
              </a:spcAft>
            </a:pPr>
            <a:r>
              <a:rPr sz="105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 err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Tokenisation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105,703 tokens, 14,969 unique, 13.9 per tweet</a:t>
            </a:r>
          </a:p>
          <a:p>
            <a:pPr algn="just">
              <a:spcAft>
                <a:spcPts val="400"/>
              </a:spcAft>
            </a:pPr>
            <a:r>
              <a:rPr sz="105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 err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Stopwords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36.9% of tokens removed (38,958 tokens)</a:t>
            </a:r>
          </a:p>
          <a:p>
            <a:pPr algn="just">
              <a:spcAft>
                <a:spcPts val="400"/>
              </a:spcAft>
            </a:pPr>
            <a:r>
              <a:rPr sz="105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Negations kept: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681 negations (no, not, never) preserved to protect meaning</a:t>
            </a:r>
          </a:p>
          <a:p>
            <a:pPr algn="just">
              <a:spcAft>
                <a:spcPts val="400"/>
              </a:spcAft>
            </a:pPr>
            <a:r>
              <a:rPr sz="105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 err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Lemmatisation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vocabulary cut 13.2% (14,698 to 12,761), e.g. killed to kill</a:t>
            </a:r>
          </a:p>
          <a:p>
            <a:pPr algn="just">
              <a:spcAft>
                <a:spcPts val="400"/>
              </a:spcAft>
            </a:pPr>
            <a:r>
              <a:rPr sz="105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filled with "no keyword" / "no location"; no rows dropped</a:t>
            </a:r>
          </a:p>
          <a:p>
            <a:pPr algn="just">
              <a:spcAft>
                <a:spcPts val="400"/>
              </a:spcAft>
            </a:pPr>
            <a:r>
              <a:rPr sz="105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 audit: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7,613 tweets ASCII-only; no encoding problems</a:t>
            </a:r>
          </a:p>
          <a:p>
            <a:pPr algn="just">
              <a:spcAft>
                <a:spcPts val="400"/>
              </a:spcAft>
            </a:pPr>
            <a:r>
              <a:rPr sz="105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Hashtags: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3,330 occurrences in 22.9% of tweets; words kept for context</a:t>
            </a:r>
          </a:p>
          <a:p>
            <a:pPr algn="just">
              <a:spcAft>
                <a:spcPts val="400"/>
              </a:spcAft>
            </a:pPr>
            <a:r>
              <a:rPr sz="105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Numbers: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 in 59.4% of tweets; preserved initially</a:t>
            </a:r>
          </a:p>
          <a:p>
            <a:pPr algn="just">
              <a:spcAft>
                <a:spcPts val="400"/>
              </a:spcAft>
            </a:pPr>
            <a:r>
              <a:rPr sz="105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text: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7,609 usable texts (99.95%), 8.8 tokens on average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solidFill>
            <a:srgbClr val="3D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5806440"/>
            <a:ext cx="73152" cy="502920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5544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050" b="1">
                <a:solidFill>
                  <a:srgbClr val="D1A978"/>
                </a:solidFill>
                <a:latin typeface="Calibri"/>
              </a:rPr>
              <a:t>KEY 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5934020"/>
            <a:ext cx="9326880" cy="247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just"/>
            <a:r>
              <a:rPr sz="125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Cleaning removes noise but keeps meaning: negations and hashtag words stay, and original text is preserved for later features.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D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1">
                <a:solidFill>
                  <a:srgbClr val="D1A978"/>
                </a:solidFill>
                <a:latin typeface="Calibri"/>
              </a:rPr>
              <a:t>TASK 2–3 · PREPARATION AND SPLITTING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Georgia"/>
              </a:rPr>
              <a:t>Final Dataset &amp; Leakage-Safe Split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1">
                <a:solidFill>
                  <a:srgbClr val="75465B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75465B"/>
                </a:solidFill>
                <a:latin typeface="Calibri"/>
              </a:rPr>
              <a:t>Disaster Tweet Classification  ·  NLP &amp; Machine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619" y="1243584"/>
            <a:ext cx="4631861" cy="2313432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48_0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195" y="1280160"/>
            <a:ext cx="4558709" cy="2240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3547872"/>
            <a:ext cx="54178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75465B"/>
                </a:solidFill>
                <a:latin typeface="Calibri"/>
              </a:rPr>
              <a:t>Output: dataset retention through quality gates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7114" y="1243584"/>
            <a:ext cx="4553712" cy="2313432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52_0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690" y="1280160"/>
            <a:ext cx="4480560" cy="2240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95059" y="3547872"/>
            <a:ext cx="54178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75465B"/>
                </a:solidFill>
                <a:latin typeface="Calibri"/>
              </a:rPr>
              <a:t>Output: class balance after stratified 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86200"/>
            <a:ext cx="544068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</a:pPr>
            <a:r>
              <a:rPr sz="10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Exact duplicates: </a:t>
            </a:r>
            <a:r>
              <a:rPr sz="13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1,161 records in 355 duplicate groups</a:t>
            </a:r>
          </a:p>
          <a:p>
            <a:pPr algn="just">
              <a:spcAft>
                <a:spcPts val="300"/>
              </a:spcAft>
            </a:pPr>
            <a:r>
              <a:rPr sz="10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Near-duplicates: </a:t>
            </a:r>
            <a:r>
              <a:rPr sz="13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253 highly similar record pairs identified</a:t>
            </a:r>
          </a:p>
          <a:p>
            <a:pPr algn="just">
              <a:spcAft>
                <a:spcPts val="300"/>
              </a:spcAft>
            </a:pPr>
            <a:r>
              <a:rPr sz="10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 conflicts: </a:t>
            </a:r>
            <a:r>
              <a:rPr sz="13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126 records with the same text but different labels removed</a:t>
            </a:r>
          </a:p>
          <a:p>
            <a:pPr algn="just">
              <a:spcAft>
                <a:spcPts val="300"/>
              </a:spcAft>
            </a:pPr>
            <a:r>
              <a:rPr sz="10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Retention: </a:t>
            </a:r>
            <a:r>
              <a:rPr sz="13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7,613 to 6,718 records (88.24%)</a:t>
            </a:r>
          </a:p>
          <a:p>
            <a:pPr algn="just">
              <a:spcAft>
                <a:spcPts val="300"/>
              </a:spcAft>
            </a:pPr>
            <a:r>
              <a:rPr sz="10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Readiness: </a:t>
            </a:r>
            <a:r>
              <a:rPr sz="13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7/7 final quality checks passed</a:t>
            </a:r>
          </a:p>
          <a:p>
            <a:pPr algn="just">
              <a:spcAft>
                <a:spcPts val="300"/>
              </a:spcAft>
            </a:pPr>
            <a:r>
              <a:rPr sz="10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 trail: </a:t>
            </a:r>
            <a:r>
              <a:rPr sz="13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 text kept beside processed text</a:t>
            </a:r>
          </a:p>
          <a:p>
            <a:pPr algn="just">
              <a:spcAft>
                <a:spcPts val="300"/>
              </a:spcAft>
            </a:pPr>
            <a:r>
              <a:rPr sz="10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 gates: </a:t>
            </a:r>
            <a:r>
              <a:rPr sz="13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empty text, label conflicts, duplicate rows, final 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86200"/>
            <a:ext cx="544068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</a:pPr>
            <a:r>
              <a:rPr sz="10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Split: </a:t>
            </a:r>
            <a:r>
              <a:rPr sz="13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5,374 training and 1,344 test tweets (80/20)</a:t>
            </a:r>
          </a:p>
          <a:p>
            <a:pPr algn="just">
              <a:spcAft>
                <a:spcPts val="300"/>
              </a:spcAft>
            </a:pPr>
            <a:r>
              <a:rPr sz="10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Stratified: </a:t>
            </a:r>
            <a:r>
              <a:rPr sz="13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59.34% / 40.66%, test 59.38% / 40.62% (gap 0.034%)</a:t>
            </a:r>
          </a:p>
          <a:p>
            <a:pPr algn="just">
              <a:spcAft>
                <a:spcPts val="300"/>
              </a:spcAft>
            </a:pPr>
            <a:r>
              <a:rPr sz="10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overlap: </a:t>
            </a:r>
            <a:r>
              <a:rPr sz="13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identical tweets between train and test</a:t>
            </a:r>
          </a:p>
          <a:p>
            <a:pPr algn="just">
              <a:spcAft>
                <a:spcPts val="300"/>
              </a:spcAft>
            </a:pPr>
            <a:r>
              <a:rPr sz="10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of work: </a:t>
            </a:r>
            <a:r>
              <a:rPr sz="13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 first, then fit TF-IDF, scalers and models</a:t>
            </a:r>
          </a:p>
          <a:p>
            <a:pPr algn="just">
              <a:spcAft>
                <a:spcPts val="300"/>
              </a:spcAft>
            </a:pPr>
            <a:r>
              <a:rPr sz="10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set role: </a:t>
            </a:r>
            <a:r>
              <a:rPr sz="13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locked until the final model is chosen</a:t>
            </a:r>
          </a:p>
          <a:p>
            <a:pPr algn="just">
              <a:spcAft>
                <a:spcPts val="300"/>
              </a:spcAft>
            </a:pPr>
            <a:r>
              <a:rPr sz="10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encoding: </a:t>
            </a:r>
            <a:r>
              <a:rPr sz="13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labels validated; none missing</a:t>
            </a:r>
          </a:p>
          <a:p>
            <a:pPr algn="just">
              <a:spcAft>
                <a:spcPts val="300"/>
              </a:spcAft>
            </a:pPr>
            <a:r>
              <a:rPr sz="10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Reproducibility: </a:t>
            </a:r>
            <a:r>
              <a:rPr sz="13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random state (42) for the split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solidFill>
            <a:srgbClr val="3D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5806440"/>
            <a:ext cx="73152" cy="502920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20" y="5949409"/>
            <a:ext cx="1554480" cy="21698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just"/>
            <a:r>
              <a:rPr sz="1050" b="1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TAKEAWAY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5934020"/>
            <a:ext cx="9326880" cy="247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just"/>
            <a:r>
              <a:rPr sz="125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Removing conflicting duplicates and splitting before any fitting keeps the final test score unbiased.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D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1">
                <a:solidFill>
                  <a:srgbClr val="D1A978"/>
                </a:solidFill>
                <a:latin typeface="Calibri"/>
              </a:rPr>
              <a:t>TASK 3 · 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Georgia"/>
              </a:rPr>
              <a:t>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1">
                <a:solidFill>
                  <a:srgbClr val="75465B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75465B"/>
                </a:solidFill>
                <a:latin typeface="Calibri"/>
              </a:rPr>
              <a:t>Disaster Tweet Classification  ·  NLP &amp; Machine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3" y="2066239"/>
            <a:ext cx="5193792" cy="2496921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66_0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2815"/>
            <a:ext cx="5120640" cy="242376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367528"/>
            <a:ext cx="5120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75465B"/>
                </a:solidFill>
                <a:latin typeface="Calibri"/>
              </a:rPr>
              <a:t>Output: combined feature space of 32,136 features (99.57% sparse)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599" y="1280160"/>
            <a:ext cx="5669280" cy="4006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</a:pPr>
            <a:r>
              <a:rPr sz="13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TF-IDF: </a:t>
            </a:r>
            <a:r>
              <a:rPr sz="13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7,112 features (1–2 grams); top disaster cues kill, flood, storm, fire, bomb</a:t>
            </a:r>
          </a:p>
          <a:p>
            <a:pPr algn="just">
              <a:spcAft>
                <a:spcPts val="400"/>
              </a:spcAft>
            </a:pPr>
            <a:r>
              <a:rPr sz="13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Non-disaster cues: </a:t>
            </a:r>
            <a:r>
              <a:rPr sz="13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like, love, just, scream, bag</a:t>
            </a:r>
          </a:p>
          <a:p>
            <a:pPr algn="just">
              <a:spcAft>
                <a:spcPts val="400"/>
              </a:spcAft>
            </a:pPr>
            <a:r>
              <a:rPr sz="13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 TF-IDF: </a:t>
            </a:r>
            <a:r>
              <a:rPr sz="13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25,000 features (3–5 grams); handles typos, slang and word stems</a:t>
            </a:r>
          </a:p>
          <a:p>
            <a:pPr algn="just">
              <a:spcAft>
                <a:spcPts val="400"/>
              </a:spcAft>
            </a:pPr>
            <a:r>
              <a:rPr sz="13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Structural (12): </a:t>
            </a:r>
            <a:r>
              <a:rPr sz="13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 presence 1.6x and digit counts 1.7x higher in disaster tweets</a:t>
            </a:r>
          </a:p>
          <a:p>
            <a:pPr algn="just">
              <a:spcAft>
                <a:spcPts val="400"/>
              </a:spcAft>
            </a:pPr>
            <a:r>
              <a:rPr sz="13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 signals: </a:t>
            </a:r>
            <a:r>
              <a:rPr sz="13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hashtags 1.4x more common; question marks 0.4x as common</a:t>
            </a:r>
          </a:p>
          <a:p>
            <a:pPr algn="just">
              <a:spcAft>
                <a:spcPts val="400"/>
              </a:spcAft>
            </a:pPr>
            <a:r>
              <a:rPr sz="13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 (4): </a:t>
            </a:r>
            <a:r>
              <a:rPr sz="13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VADER scores; disaster tweets more negative (compound -0.25 vs -0.05)</a:t>
            </a:r>
          </a:p>
          <a:p>
            <a:pPr algn="just">
              <a:spcAft>
                <a:spcPts val="400"/>
              </a:spcAft>
            </a:pPr>
            <a:r>
              <a:rPr sz="13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 lexicon (8): </a:t>
            </a:r>
            <a:r>
              <a:rPr sz="13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disaster terms 3.8x and casualty terms 2.7x more frequent</a:t>
            </a:r>
          </a:p>
          <a:p>
            <a:pPr algn="just">
              <a:spcAft>
                <a:spcPts val="400"/>
              </a:spcAft>
            </a:pPr>
            <a:r>
              <a:rPr sz="13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GloVe embeddings: </a:t>
            </a:r>
            <a:r>
              <a:rPr sz="13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glove-twitter-25 mean vectors; 8,996 of 11,138 training words matched (80.77%), 89.04% frequency-weighted coverage</a:t>
            </a:r>
          </a:p>
          <a:p>
            <a:pPr algn="just">
              <a:spcAft>
                <a:spcPts val="400"/>
              </a:spcAft>
            </a:pPr>
            <a:r>
              <a:rPr sz="13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OOV handling: </a:t>
            </a:r>
            <a:r>
              <a:rPr sz="13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2,142 unseen words ignored; all-OOV tweets get a 25-d zero vector; 12/12 requirements closed</a:t>
            </a:r>
          </a:p>
          <a:p>
            <a:pPr algn="just">
              <a:spcAft>
                <a:spcPts val="400"/>
              </a:spcAft>
            </a:pPr>
            <a:r>
              <a:rPr sz="13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Leakage control: </a:t>
            </a:r>
            <a:r>
              <a:rPr sz="13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vectorisers fitted on training data only</a:t>
            </a:r>
          </a:p>
          <a:p>
            <a:pPr algn="just">
              <a:spcAft>
                <a:spcPts val="400"/>
              </a:spcAft>
            </a:pPr>
            <a:r>
              <a:rPr sz="13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Combined: </a:t>
            </a:r>
            <a:r>
              <a:rPr sz="13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feature blocks, 32,136 columns, 7/7 validation checks passed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solidFill>
            <a:srgbClr val="3D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5806440"/>
            <a:ext cx="73152" cy="502920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5544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050" b="1">
                <a:solidFill>
                  <a:srgbClr val="D1A978"/>
                </a:solidFill>
                <a:latin typeface="Calibri"/>
              </a:rPr>
              <a:t>KEY 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5806440"/>
            <a:ext cx="93268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Combining statistical, structural, emotional and domain signals gives the classifier richer evidence than words alone.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D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1">
                <a:solidFill>
                  <a:srgbClr val="D1A978"/>
                </a:solidFill>
                <a:latin typeface="Calibri"/>
              </a:rPr>
              <a:t>TASK 3–4 · MODEL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Georgia"/>
              </a:rPr>
              <a:t>Feature Ablation &amp; Baseline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1">
                <a:solidFill>
                  <a:srgbClr val="75465B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75465B"/>
                </a:solidFill>
                <a:latin typeface="Calibri"/>
              </a:rPr>
              <a:t>Disaster Tweet Classification  ·  NLP &amp; Machine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3" y="1641519"/>
            <a:ext cx="5490972" cy="1517561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68_0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78095"/>
            <a:ext cx="5417820" cy="14444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3547872"/>
            <a:ext cx="54178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75465B"/>
                </a:solidFill>
                <a:latin typeface="Calibri"/>
              </a:rPr>
              <a:t>Output: feature-set ablation (development data only)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58483" y="1741754"/>
            <a:ext cx="5490972" cy="1317091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70_0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059" y="1778330"/>
            <a:ext cx="5417820" cy="12439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95059" y="3547872"/>
            <a:ext cx="54178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75465B"/>
                </a:solidFill>
                <a:latin typeface="Calibri"/>
              </a:rPr>
              <a:t>Output: baseline model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86200"/>
            <a:ext cx="544068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Method: </a:t>
            </a:r>
            <a:r>
              <a:rPr sz="13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feature block tested alone and combined on a development split</a:t>
            </a:r>
          </a:p>
          <a:p>
            <a:pPr algn="just">
              <a:spcAft>
                <a:spcPts val="3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set: </a:t>
            </a:r>
            <a:r>
              <a:rPr sz="13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Features, F1 0.727, recall 0.670, precision 0.794</a:t>
            </a:r>
          </a:p>
          <a:p>
            <a:pPr algn="just">
              <a:spcAft>
                <a:spcPts val="3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+ Character: </a:t>
            </a:r>
            <a:r>
              <a:rPr sz="13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 0.709; Character alone 0.704; Word alone 0.702</a:t>
            </a:r>
          </a:p>
          <a:p>
            <a:pPr algn="just">
              <a:spcAft>
                <a:spcPts val="3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Engineered alone: </a:t>
            </a:r>
            <a:r>
              <a:rPr sz="13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 0.557, weak alone but useful in combination</a:t>
            </a:r>
          </a:p>
          <a:p>
            <a:pPr algn="just">
              <a:spcAft>
                <a:spcPts val="3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count: </a:t>
            </a:r>
            <a:r>
              <a:rPr sz="13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30,834 for All Features vs 5,810 for word TF-IDF</a:t>
            </a:r>
          </a:p>
          <a:p>
            <a:pPr algn="just">
              <a:spcAft>
                <a:spcPts val="3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Fair test: </a:t>
            </a:r>
            <a:r>
              <a:rPr sz="13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 test set not used</a:t>
            </a:r>
          </a:p>
          <a:p>
            <a:pPr algn="just">
              <a:spcAft>
                <a:spcPts val="3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Metrics reported: </a:t>
            </a:r>
            <a:r>
              <a:rPr sz="13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 and 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86200"/>
            <a:ext cx="544068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Winner: </a:t>
            </a:r>
            <a:r>
              <a:rPr sz="13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Regression: F1 0.727, accuracy 0.795, precision 0.794</a:t>
            </a:r>
          </a:p>
          <a:p>
            <a:pPr algn="just">
              <a:spcAft>
                <a:spcPts val="3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SVM: </a:t>
            </a:r>
            <a:r>
              <a:rPr sz="13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 0.715 with the highest recall (0.696)</a:t>
            </a:r>
          </a:p>
          <a:p>
            <a:pPr algn="just">
              <a:spcAft>
                <a:spcPts val="3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Forest: </a:t>
            </a:r>
            <a:r>
              <a:rPr sz="13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 0.704, accuracy 0.778, slowest baseline (5.1 s)</a:t>
            </a:r>
          </a:p>
          <a:p>
            <a:pPr algn="just">
              <a:spcAft>
                <a:spcPts val="3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SGD Classifier: </a:t>
            </a:r>
            <a:r>
              <a:rPr sz="13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 0.702, fastest to train (0.3 s)</a:t>
            </a:r>
          </a:p>
          <a:p>
            <a:pPr algn="just">
              <a:spcAft>
                <a:spcPts val="3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Margin: </a:t>
            </a:r>
            <a:r>
              <a:rPr sz="13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1.18 points of F1 over the runner-up</a:t>
            </a:r>
          </a:p>
          <a:p>
            <a:pPr algn="just">
              <a:spcAft>
                <a:spcPts val="3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step: </a:t>
            </a:r>
            <a:r>
              <a:rPr sz="13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 and tuning before the final choice</a:t>
            </a:r>
          </a:p>
          <a:p>
            <a:pPr algn="just">
              <a:spcAft>
                <a:spcPts val="3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3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 logic: </a:t>
            </a:r>
            <a:r>
              <a:rPr sz="13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F1 with balanced precision and recall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solidFill>
            <a:srgbClr val="3D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5806440"/>
            <a:ext cx="73152" cy="502920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5806440"/>
            <a:ext cx="15544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050" b="1">
                <a:solidFill>
                  <a:srgbClr val="D1A978"/>
                </a:solidFill>
                <a:latin typeface="Calibri"/>
              </a:rPr>
              <a:t>KEY TAKEAWAY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5806440"/>
            <a:ext cx="93268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Every feature block adds value, and a simple linear model beats more complex ones on this sparse text data.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D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1">
                <a:solidFill>
                  <a:srgbClr val="D1A978"/>
                </a:solidFill>
                <a:latin typeface="Calibri"/>
              </a:rPr>
              <a:t>TASK 4 · MODEL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Georgia"/>
              </a:rPr>
              <a:t>Cross-Validation &amp; Hyperparameter 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1">
                <a:solidFill>
                  <a:srgbClr val="75465B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75465B"/>
                </a:solidFill>
                <a:latin typeface="Calibri"/>
              </a:rPr>
              <a:t>Disaster Tweet Classification  ·  NLP &amp; Machine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3" y="1835091"/>
            <a:ext cx="5490972" cy="993256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72_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16736"/>
            <a:ext cx="5417820" cy="19608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3410711"/>
            <a:ext cx="54178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75465B"/>
                </a:solidFill>
                <a:latin typeface="Calibri"/>
              </a:rPr>
              <a:t>Output: 5-fold stratified cross-validation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19231" y="1243584"/>
            <a:ext cx="4569477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74_0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807" y="1280160"/>
            <a:ext cx="4496325" cy="2103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95059" y="3410711"/>
            <a:ext cx="54178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75465B"/>
                </a:solidFill>
                <a:latin typeface="Calibri"/>
              </a:rPr>
              <a:t>Output: precision–recall trade-off across tuning trials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49039"/>
            <a:ext cx="5440680" cy="160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</a:pPr>
            <a:r>
              <a:rPr sz="105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stratified folds on training data only</a:t>
            </a:r>
          </a:p>
          <a:p>
            <a:pPr algn="just">
              <a:spcAft>
                <a:spcPts val="300"/>
              </a:spcAft>
            </a:pPr>
            <a:r>
              <a:rPr sz="105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F1 0.728, std 0.032, fold range 0.687–0.764</a:t>
            </a:r>
          </a:p>
          <a:p>
            <a:pPr algn="just">
              <a:spcAft>
                <a:spcPts val="300"/>
              </a:spcAft>
            </a:pPr>
            <a:r>
              <a:rPr sz="105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F1 0.714, std 0.020 (most consistent)</a:t>
            </a:r>
          </a:p>
          <a:p>
            <a:pPr algn="just">
              <a:spcAft>
                <a:spcPts val="300"/>
              </a:spcAft>
            </a:pPr>
            <a:r>
              <a:rPr sz="105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SVM: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F1 0.713, highest mean recall (0.691)</a:t>
            </a:r>
          </a:p>
          <a:p>
            <a:pPr algn="just">
              <a:spcAft>
                <a:spcPts val="300"/>
              </a:spcAft>
            </a:pPr>
            <a:r>
              <a:rPr sz="105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Shortlist: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two models by CV F1 were tuned</a:t>
            </a:r>
          </a:p>
          <a:p>
            <a:pPr algn="just">
              <a:spcAft>
                <a:spcPts val="300"/>
              </a:spcAft>
            </a:pPr>
            <a:r>
              <a:rPr sz="105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Metrics per fold: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 and 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49039"/>
            <a:ext cx="544068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</a:pPr>
            <a:r>
              <a:rPr sz="105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Logistic setting: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= 1.0, balanced class weights, sublinear TF</a:t>
            </a:r>
          </a:p>
          <a:p>
            <a:pPr algn="just">
              <a:spcAft>
                <a:spcPts val="300"/>
              </a:spcAft>
            </a:pPr>
            <a:r>
              <a:rPr sz="105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Tuned Logistic: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 0.734, recall 0.732, precision 0.736</a:t>
            </a:r>
          </a:p>
          <a:p>
            <a:pPr algn="just">
              <a:spcAft>
                <a:spcPts val="300"/>
              </a:spcAft>
            </a:pPr>
            <a:r>
              <a:rPr sz="105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Tuned Random Forest: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 0.723; 300 trees, 581 s vs 131 s runtime</a:t>
            </a:r>
          </a:p>
          <a:p>
            <a:pPr algn="just">
              <a:spcAft>
                <a:spcPts val="300"/>
              </a:spcAft>
            </a:pPr>
            <a:r>
              <a:rPr sz="105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Locked model: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Regression, validation F1 0.743, recall 0.746</a:t>
            </a:r>
          </a:p>
          <a:p>
            <a:pPr algn="just">
              <a:spcAft>
                <a:spcPts val="300"/>
              </a:spcAft>
            </a:pPr>
            <a:r>
              <a:rPr sz="105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balanced weights: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trade a little precision for higher recall</a:t>
            </a:r>
          </a:p>
          <a:p>
            <a:pPr algn="just">
              <a:spcAft>
                <a:spcPts val="300"/>
              </a:spcAft>
            </a:pPr>
            <a:r>
              <a:rPr sz="105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Discipline: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tuning performed on training data only</a:t>
            </a:r>
          </a:p>
          <a:p>
            <a:pPr algn="just">
              <a:spcAft>
                <a:spcPts val="300"/>
              </a:spcAft>
            </a:pPr>
            <a:r>
              <a:rPr sz="105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Runtime: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5-fold comparison of three models took 1.92 minutes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solidFill>
            <a:srgbClr val="3D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5806440"/>
            <a:ext cx="73152" cy="502920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5806440"/>
            <a:ext cx="15544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050" b="1">
                <a:solidFill>
                  <a:srgbClr val="D1A978"/>
                </a:solidFill>
                <a:latin typeface="Calibri"/>
              </a:rPr>
              <a:t>KEY TAKEAWAY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5806440"/>
            <a:ext cx="93268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The final model is chosen on cross-validation evidence only, then locked before the test set is opened.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D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1">
                <a:solidFill>
                  <a:srgbClr val="D1A978"/>
                </a:solidFill>
                <a:latin typeface="Calibri"/>
              </a:rPr>
              <a:t>TASK 5 ·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Georgia"/>
              </a:rPr>
              <a:t>Test Performance, Ranking &amp; Threshold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1">
                <a:solidFill>
                  <a:srgbClr val="75465B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75465B"/>
                </a:solidFill>
                <a:latin typeface="Calibri"/>
              </a:rPr>
              <a:t>Disaster Tweet Classification  ·  NLP &amp; Machine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5733" y="1243584"/>
            <a:ext cx="3683633" cy="2313432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78_0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309" y="1280160"/>
            <a:ext cx="3610481" cy="2240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3547872"/>
            <a:ext cx="54178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75465B"/>
                </a:solidFill>
                <a:latin typeface="Calibri"/>
              </a:rPr>
              <a:t>Output: confusion matrix, protected test 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7933" y="1243584"/>
            <a:ext cx="5332072" cy="2313432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80_0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509" y="1280160"/>
            <a:ext cx="5258920" cy="2240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95059" y="3547872"/>
            <a:ext cx="54178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75465B"/>
                </a:solidFill>
                <a:latin typeface="Calibri"/>
              </a:rPr>
              <a:t>Output: ROC and precision–recall curves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86200"/>
            <a:ext cx="544068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</a:pPr>
            <a:r>
              <a:rPr sz="9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2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set: </a:t>
            </a:r>
            <a:r>
              <a:rPr sz="12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1,344 unseen tweets, stratified like training</a:t>
            </a:r>
          </a:p>
          <a:p>
            <a:pPr algn="just">
              <a:spcAft>
                <a:spcPts val="300"/>
              </a:spcAft>
            </a:pPr>
            <a:r>
              <a:rPr sz="9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2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/ F1: </a:t>
            </a:r>
            <a:r>
              <a:rPr sz="12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0.792 and 0.747; specificity 0.820</a:t>
            </a:r>
          </a:p>
          <a:p>
            <a:pPr algn="just">
              <a:spcAft>
                <a:spcPts val="300"/>
              </a:spcAft>
            </a:pPr>
            <a:r>
              <a:rPr sz="9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2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Precision: </a:t>
            </a:r>
            <a:r>
              <a:rPr sz="12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0.741, so 74% of alerts are real disasters</a:t>
            </a:r>
          </a:p>
          <a:p>
            <a:pPr algn="just">
              <a:spcAft>
                <a:spcPts val="300"/>
              </a:spcAft>
            </a:pPr>
            <a:r>
              <a:rPr sz="9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2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Recall: </a:t>
            </a:r>
            <a:r>
              <a:rPr sz="12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0.753, so about 75 of 100 disasters are caught</a:t>
            </a:r>
          </a:p>
          <a:p>
            <a:pPr algn="just">
              <a:spcAft>
                <a:spcPts val="300"/>
              </a:spcAft>
            </a:pPr>
            <a:r>
              <a:rPr sz="9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2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Counts: </a:t>
            </a:r>
            <a:r>
              <a:rPr sz="12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411 TP, 654 TN, 144 FP, 135 FN</a:t>
            </a:r>
          </a:p>
          <a:p>
            <a:pPr algn="just">
              <a:spcAft>
                <a:spcPts val="300"/>
              </a:spcAft>
            </a:pPr>
            <a:r>
              <a:rPr sz="9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2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mix: </a:t>
            </a:r>
            <a:r>
              <a:rPr sz="12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51.6% false positives, 48.4% false negatives</a:t>
            </a:r>
          </a:p>
          <a:p>
            <a:pPr algn="just">
              <a:spcAft>
                <a:spcPts val="300"/>
              </a:spcAft>
            </a:pPr>
            <a:r>
              <a:rPr sz="9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2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 across stages: </a:t>
            </a:r>
            <a:r>
              <a:rPr sz="12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CV 0.728, validation 0.743, test 0.747 (training 0.878, gap monitored)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86200"/>
            <a:ext cx="5440680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</a:pPr>
            <a:r>
              <a:rPr sz="95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25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ROC-AUC 0.857: </a:t>
            </a:r>
            <a:r>
              <a:rPr sz="125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separation of the two classes</a:t>
            </a:r>
          </a:p>
          <a:p>
            <a:pPr algn="just">
              <a:spcAft>
                <a:spcPts val="300"/>
              </a:spcAft>
            </a:pPr>
            <a:r>
              <a:rPr sz="95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25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precision 0.836: </a:t>
            </a:r>
            <a:r>
              <a:rPr sz="125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2x the 0.406 chance baseline</a:t>
            </a:r>
          </a:p>
          <a:p>
            <a:pPr algn="just">
              <a:spcAft>
                <a:spcPts val="300"/>
              </a:spcAft>
            </a:pPr>
            <a:r>
              <a:rPr sz="95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25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threshold 0.50: </a:t>
            </a:r>
            <a:r>
              <a:rPr sz="125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 0.747, 135 FN, 144 FP</a:t>
            </a:r>
          </a:p>
          <a:p>
            <a:pPr algn="just">
              <a:spcAft>
                <a:spcPts val="300"/>
              </a:spcAft>
            </a:pPr>
            <a:r>
              <a:rPr sz="95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25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Diagnostic F1-max 0.476: </a:t>
            </a:r>
            <a:r>
              <a:rPr sz="125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 0.751, 126 FN, 153 FP; reference only</a:t>
            </a:r>
          </a:p>
          <a:p>
            <a:pPr algn="just">
              <a:spcAft>
                <a:spcPts val="300"/>
              </a:spcAft>
            </a:pPr>
            <a:r>
              <a:rPr sz="95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25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Trade-off: </a:t>
            </a:r>
            <a:r>
              <a:rPr sz="125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 thresholds find more disasters but raise false alerts</a:t>
            </a:r>
          </a:p>
          <a:p>
            <a:pPr algn="just">
              <a:spcAft>
                <a:spcPts val="300"/>
              </a:spcAft>
            </a:pPr>
            <a:r>
              <a:rPr sz="95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25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Decision: </a:t>
            </a:r>
            <a:r>
              <a:rPr sz="125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threshold kept at 0.50; not tuned on test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solidFill>
            <a:srgbClr val="3D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5806440"/>
            <a:ext cx="73152" cy="502920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5806440"/>
            <a:ext cx="15544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050" b="1">
                <a:solidFill>
                  <a:srgbClr val="D1A978"/>
                </a:solidFill>
                <a:latin typeface="Calibri"/>
              </a:rPr>
              <a:t>KEY TAKEAWAY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5806440"/>
            <a:ext cx="93268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Held-out scores agree across CV, validation and test, and the threshold choice stays an operational decision, not a test-set tweak.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D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1">
                <a:solidFill>
                  <a:srgbClr val="D1A978"/>
                </a:solidFill>
                <a:latin typeface="Calibri"/>
              </a:rPr>
              <a:t>TASK 5 ·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Georgia"/>
              </a:rPr>
              <a:t>Explainability &amp; Error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1">
                <a:solidFill>
                  <a:srgbClr val="75465B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75465B"/>
                </a:solidFill>
                <a:latin typeface="Calibri"/>
              </a:rPr>
              <a:t>Disaster Tweet Classification  ·  NLP &amp; Machine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3" y="1633245"/>
            <a:ext cx="5559552" cy="3362909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84_0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69821"/>
            <a:ext cx="5486400" cy="32897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367528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75465B"/>
                </a:solidFill>
                <a:latin typeface="Calibri"/>
              </a:rPr>
              <a:t>Output: strongest learned features by direction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170432"/>
            <a:ext cx="5303520" cy="466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</a:pPr>
            <a:r>
              <a:rPr sz="105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coefficients of the linear model across 32,136 features</a:t>
            </a:r>
          </a:p>
          <a:p>
            <a:pPr algn="just">
              <a:spcAft>
                <a:spcPts val="400"/>
              </a:spcAft>
            </a:pPr>
            <a:r>
              <a:rPr sz="105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Toward disaster: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train, building, </a:t>
            </a:r>
            <a:r>
              <a:rPr sz="1400" dirty="0" err="1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hiroshima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forest, car, heat wave, massacre, typhoon, police</a:t>
            </a:r>
          </a:p>
          <a:p>
            <a:pPr algn="just">
              <a:spcAft>
                <a:spcPts val="400"/>
              </a:spcAft>
            </a:pPr>
            <a:r>
              <a:rPr sz="105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Toward non-disaster: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new, emergency, job, </a:t>
            </a:r>
            <a:r>
              <a:rPr sz="1400" dirty="0" err="1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nowplaying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injury, book, online</a:t>
            </a:r>
          </a:p>
          <a:p>
            <a:pPr algn="just">
              <a:spcAft>
                <a:spcPts val="400"/>
              </a:spcAft>
            </a:pPr>
            <a:r>
              <a:rPr sz="105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Dominant family: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 n-grams (25,000 features) vs 7,112 word features</a:t>
            </a:r>
          </a:p>
          <a:p>
            <a:pPr algn="just">
              <a:spcAft>
                <a:spcPts val="400"/>
              </a:spcAft>
            </a:pPr>
            <a:r>
              <a:rPr sz="105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Errors: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279 in total (20.76%): 144 false positives and 135 false negatives</a:t>
            </a:r>
          </a:p>
          <a:p>
            <a:pPr algn="just">
              <a:spcAft>
                <a:spcPts val="400"/>
              </a:spcAft>
            </a:pPr>
            <a:r>
              <a:rPr sz="105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positives: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figurative or news-style use, e.g. "time bomb", "apocalyptic earthquake"</a:t>
            </a:r>
          </a:p>
          <a:p>
            <a:pPr algn="just">
              <a:spcAft>
                <a:spcPts val="400"/>
              </a:spcAft>
            </a:pPr>
            <a:r>
              <a:rPr sz="105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 negatives: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slang or indirect wording, e.g. "blaze", "destroy"</a:t>
            </a:r>
          </a:p>
          <a:p>
            <a:pPr algn="just">
              <a:spcAft>
                <a:spcPts val="400"/>
              </a:spcAft>
            </a:pPr>
            <a:r>
              <a:rPr sz="105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 pattern: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positives cluster just above 0.5; false negatives below</a:t>
            </a:r>
          </a:p>
          <a:p>
            <a:pPr algn="just">
              <a:spcAft>
                <a:spcPts val="400"/>
              </a:spcAft>
            </a:pPr>
            <a:r>
              <a:rPr sz="105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 of errors: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mostly borderline, not strongly committed</a:t>
            </a:r>
          </a:p>
          <a:p>
            <a:pPr algn="just">
              <a:spcAft>
                <a:spcPts val="400"/>
              </a:spcAft>
            </a:pPr>
            <a:r>
              <a:rPr sz="105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mix: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51.6% false positives (144) and 48.4% false negatives (135)</a:t>
            </a:r>
          </a:p>
          <a:p>
            <a:pPr algn="just">
              <a:spcAft>
                <a:spcPts val="400"/>
              </a:spcAft>
            </a:pPr>
            <a:r>
              <a:rPr sz="105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Transparency: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coefficients give auditable reasons for each prediction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solidFill>
            <a:srgbClr val="3D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5806440"/>
            <a:ext cx="73152" cy="502920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5544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050" b="1">
                <a:solidFill>
                  <a:srgbClr val="D1A978"/>
                </a:solidFill>
                <a:latin typeface="Calibri"/>
              </a:rPr>
              <a:t>KEY 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5806440"/>
            <a:ext cx="93268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The model learns sensible disaster vocabulary; its mistakes are mostly genuinely ambiguous tweets that even humans could dispute.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D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1">
                <a:solidFill>
                  <a:srgbClr val="D1A978"/>
                </a:solidFill>
                <a:latin typeface="Calibri"/>
              </a:rPr>
              <a:t>TASK 6 · MODEL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Georgia"/>
              </a:rPr>
              <a:t>Robustness, Subgroups &amp; Human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1">
                <a:solidFill>
                  <a:srgbClr val="75465B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75465B"/>
                </a:solidFill>
                <a:latin typeface="Calibri"/>
              </a:rPr>
              <a:t>Disaster Tweet Classification  ·  NLP &amp; Machine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3" y="1447588"/>
            <a:ext cx="4645152" cy="3734222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86_0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4164"/>
            <a:ext cx="4572000" cy="36610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367528"/>
            <a:ext cx="4572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75465B"/>
                </a:solidFill>
                <a:latin typeface="Calibri"/>
              </a:rPr>
              <a:t>Output: robustness profile under input stress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59" y="1280160"/>
            <a:ext cx="6217920" cy="3621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</a:pPr>
            <a:r>
              <a:rPr sz="14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 tests: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dropout, typo noise, truncation and metadata noise</a:t>
            </a:r>
          </a:p>
          <a:p>
            <a:pPr algn="just">
              <a:spcAft>
                <a:spcPts val="400"/>
              </a:spcAft>
            </a:pPr>
            <a:r>
              <a:rPr sz="14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Robustness: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97.07% of baseline F1 retained on average</a:t>
            </a:r>
          </a:p>
          <a:p>
            <a:pPr algn="just">
              <a:spcAft>
                <a:spcPts val="400"/>
              </a:spcAft>
            </a:pPr>
            <a:r>
              <a:rPr sz="14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Typical results: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 0.738 with word dropout and typo noise; 0.746 with metadata noise</a:t>
            </a:r>
          </a:p>
          <a:p>
            <a:pPr algn="just">
              <a:spcAft>
                <a:spcPts val="400"/>
              </a:spcAft>
            </a:pPr>
            <a:r>
              <a:rPr sz="14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 stability: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92.5–97.5% of predictions unchanged under these tests</a:t>
            </a:r>
          </a:p>
          <a:p>
            <a:pPr algn="just">
              <a:spcAft>
                <a:spcPts val="400"/>
              </a:spcAft>
            </a:pPr>
            <a:r>
              <a:rPr sz="14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Subgroups: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 slices tested (length, hashtag, mention, URL)</a:t>
            </a:r>
          </a:p>
          <a:p>
            <a:pPr algn="just">
              <a:spcAft>
                <a:spcPts val="400"/>
              </a:spcAft>
            </a:pPr>
            <a:r>
              <a:rPr sz="14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Slice F1: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ranges 0.591–0.823; URL tweets 0.823, hashtag tweets 0.812, short tweets 0.743</a:t>
            </a:r>
          </a:p>
          <a:p>
            <a:pPr algn="just">
              <a:spcAft>
                <a:spcPts val="400"/>
              </a:spcAft>
            </a:pPr>
            <a:r>
              <a:rPr sz="14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median certainty 0.632 for correct vs 0.311 for wrong predictions</a:t>
            </a:r>
          </a:p>
          <a:p>
            <a:pPr algn="just">
              <a:spcAft>
                <a:spcPts val="400"/>
              </a:spcAft>
            </a:pPr>
            <a:r>
              <a:rPr sz="14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by confidence: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0.944 at very high certainty, 0.557 at very low</a:t>
            </a:r>
          </a:p>
          <a:p>
            <a:pPr algn="just">
              <a:spcAft>
                <a:spcPts val="400"/>
              </a:spcAft>
            </a:pPr>
            <a:r>
              <a:rPr sz="14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High-confidence errors: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16 of 279 errors</a:t>
            </a:r>
          </a:p>
          <a:p>
            <a:pPr algn="just">
              <a:spcAft>
                <a:spcPts val="400"/>
              </a:spcAft>
            </a:pPr>
            <a:r>
              <a:rPr sz="14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review: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certainty ≤ 0.60 sent to analysts (52.4% of tweets) captures 77.1% of errors</a:t>
            </a:r>
          </a:p>
          <a:p>
            <a:pPr algn="just">
              <a:spcAft>
                <a:spcPts val="400"/>
              </a:spcAft>
            </a:pPr>
            <a:r>
              <a:rPr sz="14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"Candidate with Monitoring" (validation index 0.840)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solidFill>
            <a:srgbClr val="3D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5806440"/>
            <a:ext cx="73152" cy="502920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5544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050" b="1">
                <a:solidFill>
                  <a:srgbClr val="D1A978"/>
                </a:solidFill>
                <a:latin typeface="Calibri"/>
              </a:rPr>
              <a:t>KEY 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5806440"/>
            <a:ext cx="93268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The model is stable under noise, and uncertainty scores give a practical way to route risky tweets to human reviewers.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D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1">
                <a:solidFill>
                  <a:srgbClr val="D1A978"/>
                </a:solidFill>
                <a:latin typeface="Calibri"/>
              </a:rPr>
              <a:t>TASK 6 · MODEL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Georgia"/>
              </a:rPr>
              <a:t>Validation Sign-off &amp; Monitoring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1">
                <a:solidFill>
                  <a:srgbClr val="75465B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75465B"/>
                </a:solidFill>
                <a:latin typeface="Calibri"/>
              </a:rPr>
              <a:t>Disaster Tweet Classification  ·  NLP &amp; Machine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3" y="1278883"/>
            <a:ext cx="5102352" cy="4071632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98_0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15459"/>
            <a:ext cx="5029200" cy="3998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367528"/>
            <a:ext cx="5029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75465B"/>
                </a:solidFill>
                <a:latin typeface="Calibri"/>
              </a:rPr>
              <a:t>Output: validation sign-off and production handover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59" y="1280160"/>
            <a:ext cx="5760720" cy="4052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 register: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 of 14 validation evidence items cleared for handover</a:t>
            </a:r>
          </a:p>
          <a:p>
            <a:pPr algn="just">
              <a:spcAft>
                <a:spcPts val="4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sz="1400" b="1" dirty="0" err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Generalisation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ledger: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 training 0.878, CV 0.728, validation 0.743, protected test 0.747</a:t>
            </a:r>
          </a:p>
          <a:p>
            <a:pPr algn="just">
              <a:spcAft>
                <a:spcPts val="4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Leakage sign-off: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record-ID overlap 0; exact text overlap 0; 5,374 + 1,344 = 6,718 rows reconciled</a:t>
            </a:r>
          </a:p>
          <a:p>
            <a:pPr algn="just">
              <a:spcAft>
                <a:spcPts val="4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lock: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post-test retraining, tuning or threshold change; any change needs a new cycle</a:t>
            </a:r>
          </a:p>
          <a:p>
            <a:pPr algn="just">
              <a:spcAft>
                <a:spcPts val="4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Scorecard: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diagnostic validation index 0.840; verdict "Candidate with Monitoring"</a:t>
            </a:r>
          </a:p>
          <a:p>
            <a:pPr algn="just">
              <a:spcAft>
                <a:spcPts val="4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 closure: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12/12 pre-trained embedding requirements evidenced</a:t>
            </a:r>
          </a:p>
          <a:p>
            <a:pPr algn="just">
              <a:spcAft>
                <a:spcPts val="4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1: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 and missed-event patterns (135 false negatives in test)</a:t>
            </a:r>
          </a:p>
          <a:p>
            <a:pPr algn="just">
              <a:spcAft>
                <a:spcPts val="4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2: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 burden and precision (144 false positives)</a:t>
            </a:r>
          </a:p>
          <a:p>
            <a:pPr algn="just">
              <a:spcAft>
                <a:spcPts val="4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3: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under noisy text and across tweet formats</a:t>
            </a:r>
          </a:p>
          <a:p>
            <a:pPr algn="just">
              <a:spcAft>
                <a:spcPts val="4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4: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high-confidence errors (16 in test)</a:t>
            </a:r>
          </a:p>
          <a:p>
            <a:pPr algn="just">
              <a:spcAft>
                <a:spcPts val="4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capacity: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thresholds 0.2 to 0.8 route 15.6% to 78.9% of tweets to review and capture 25% to 92% of missed disasters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solidFill>
            <a:srgbClr val="3D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5806440"/>
            <a:ext cx="73152" cy="502920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5544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050" b="1">
                <a:solidFill>
                  <a:srgbClr val="D1A978"/>
                </a:solidFill>
                <a:latin typeface="Calibri"/>
              </a:rPr>
              <a:t>KEY 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5806440"/>
            <a:ext cx="93268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Validation closes with a traceable evidence trail, a locked model and a clear monitoring plan for production.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D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1">
                <a:solidFill>
                  <a:srgbClr val="D1A978"/>
                </a:solidFill>
                <a:latin typeface="Calibri"/>
              </a:rPr>
              <a:t>TASK 7 · MODEL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Georgia"/>
              </a:rPr>
              <a:t>Production Packaging &amp; Flask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1">
                <a:solidFill>
                  <a:srgbClr val="75465B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75465B"/>
                </a:solidFill>
                <a:latin typeface="Calibri"/>
              </a:rPr>
              <a:t>Disaster Tweet Classification  ·  NLP &amp; Machine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23564" y="1243584"/>
            <a:ext cx="4679350" cy="4142232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100_0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140" y="1280160"/>
            <a:ext cx="4606198" cy="4069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367528"/>
            <a:ext cx="5029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75465B"/>
                </a:solidFill>
                <a:latin typeface="Calibri"/>
              </a:rPr>
              <a:t>Output: production package receipt and artifact integrity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59" y="1280160"/>
            <a:ext cx="5760720" cy="3713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Artifact: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locked pipeline </a:t>
            </a:r>
            <a:r>
              <a:rPr sz="1400" dirty="0" err="1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serialised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sz="1400" dirty="0" err="1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cloudpickle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1.89 MB; SHA-256 fingerprint</a:t>
            </a:r>
          </a:p>
          <a:p>
            <a:pPr algn="just">
              <a:spcAft>
                <a:spcPts val="4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Reload parity: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32/32 smoke predictions and scores identical after reload</a:t>
            </a:r>
          </a:p>
          <a:p>
            <a:pPr algn="just">
              <a:spcAft>
                <a:spcPts val="4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Metadata kept: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 DTM_20261013_020912, class mapping, threshold 0.5, F1 0.747</a:t>
            </a:r>
          </a:p>
          <a:p>
            <a:pPr algn="just">
              <a:spcAft>
                <a:spcPts val="4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</a:t>
            </a:r>
            <a:r>
              <a:rPr lang="en-US"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Inference contract: </a:t>
            </a:r>
            <a:r>
              <a:rPr sz="1400" dirty="0" err="1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predict_tweet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(text) reproduces training-time preprocessing; 0 mismatches vs notebook</a:t>
            </a:r>
          </a:p>
          <a:p>
            <a:pPr algn="just">
              <a:spcAft>
                <a:spcPts val="4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frozen mappings; no NLTK needed at deployment time</a:t>
            </a:r>
          </a:p>
          <a:p>
            <a:pPr algn="just">
              <a:spcAft>
                <a:spcPts val="4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Endpoints: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 /, GET /health, POST /predict</a:t>
            </a:r>
          </a:p>
          <a:p>
            <a:pPr algn="just">
              <a:spcAft>
                <a:spcPts val="4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label, prediction, probability score, status and model version</a:t>
            </a:r>
          </a:p>
          <a:p>
            <a:pPr algn="just">
              <a:spcAft>
                <a:spcPts val="4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 tests: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14/14 passed: 200, 400, 404, 413 and 415 cases covered</a:t>
            </a:r>
          </a:p>
          <a:p>
            <a:pPr algn="just">
              <a:spcAft>
                <a:spcPts val="4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 check 0.46 </a:t>
            </a:r>
            <a:r>
              <a:rPr sz="1400" dirty="0" err="1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predictions about 40–185 </a:t>
            </a:r>
            <a:r>
              <a:rPr sz="1400" dirty="0" err="1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sz="1400" dirty="0">
              <a:solidFill>
                <a:srgbClr val="332C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4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Fresh-process test: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verified outside the notebook process</a:t>
            </a:r>
          </a:p>
          <a:p>
            <a:pPr algn="just">
              <a:spcAft>
                <a:spcPts val="400"/>
              </a:spcAft>
            </a:pPr>
            <a:r>
              <a:rPr sz="1000" dirty="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 dirty="0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Safeguards: </a:t>
            </a:r>
            <a:r>
              <a:rPr sz="1400" dirty="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and body size limits; raw tweet text not logged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solidFill>
            <a:srgbClr val="3D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5806440"/>
            <a:ext cx="73152" cy="502920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5544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050" b="1">
                <a:solidFill>
                  <a:srgbClr val="D1A978"/>
                </a:solidFill>
                <a:latin typeface="Calibri"/>
              </a:rPr>
              <a:t>KEY 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5806440"/>
            <a:ext cx="93268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The model is packaged without retraining and served through a tested, versioned API with a stable response contract.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D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1">
                <a:solidFill>
                  <a:srgbClr val="D1A978"/>
                </a:solidFill>
                <a:latin typeface="Calibri"/>
              </a:rPr>
              <a:t>TASK 8 · 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Georgia"/>
              </a:rPr>
              <a:t>Streamlit Application &amp; UI Acceptance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1">
                <a:solidFill>
                  <a:srgbClr val="75465B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75465B"/>
                </a:solidFill>
                <a:latin typeface="Calibri"/>
              </a:rPr>
              <a:t>Disaster Tweet Classification  ·  NLP &amp; Machine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3" y="1501021"/>
            <a:ext cx="5102352" cy="3627356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109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37597"/>
            <a:ext cx="5029200" cy="35542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367528"/>
            <a:ext cx="5029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75465B"/>
                </a:solidFill>
                <a:latin typeface="Calibri"/>
              </a:rPr>
              <a:t>Output: Streamlit UI acceptance testing (39/39 passed)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59" y="1280160"/>
            <a:ext cx="5760720" cy="4460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</a:pPr>
            <a:r>
              <a:rPr sz="10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analyse-and-review workflow with 16 UI features</a:t>
            </a:r>
          </a:p>
          <a:p>
            <a:pPr algn="just">
              <a:spcAft>
                <a:spcPts val="400"/>
              </a:spcAft>
            </a:pPr>
            <a:r>
              <a:rPr sz="10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Sections: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Tweet, Model Performance, Reliability &amp; Limitations, About the System</a:t>
            </a:r>
          </a:p>
          <a:p>
            <a:pPr algn="just">
              <a:spcAft>
                <a:spcPts val="400"/>
              </a:spcAft>
            </a:pPr>
            <a:r>
              <a:rPr sz="10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 view: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plain-language label, probability score and model version</a:t>
            </a:r>
          </a:p>
          <a:p>
            <a:pPr algn="just">
              <a:spcAft>
                <a:spcPts val="400"/>
              </a:spcAft>
            </a:pPr>
            <a:r>
              <a:rPr sz="10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experience: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multi-line box, live character counter, Clear / Reset, 1,000-character limit</a:t>
            </a:r>
          </a:p>
          <a:p>
            <a:pPr algn="just">
              <a:spcAft>
                <a:spcPts val="400"/>
              </a:spcAft>
            </a:pPr>
            <a:r>
              <a:rPr sz="10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empty, whitespace-only and over-length input rejected with clear messages</a:t>
            </a:r>
          </a:p>
          <a:p>
            <a:pPr algn="just">
              <a:spcAft>
                <a:spcPts val="400"/>
              </a:spcAft>
            </a:pPr>
            <a:r>
              <a:rPr sz="10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Resilience: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health check; text preserved if the service is unavailable</a:t>
            </a:r>
          </a:p>
          <a:p>
            <a:pPr algn="just">
              <a:spcAft>
                <a:spcPts val="400"/>
              </a:spcAft>
            </a:pPr>
            <a:r>
              <a:rPr sz="10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Responsible use: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emergency-authority disclaimer; scores not presented as certainty</a:t>
            </a:r>
          </a:p>
          <a:p>
            <a:pPr algn="just">
              <a:spcAft>
                <a:spcPts val="400"/>
              </a:spcAft>
            </a:pPr>
            <a:r>
              <a:rPr sz="10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labelled keyboard-accessible controls, visible focus, responsive layout</a:t>
            </a:r>
          </a:p>
          <a:p>
            <a:pPr algn="just">
              <a:spcAft>
                <a:spcPts val="400"/>
              </a:spcAft>
            </a:pPr>
            <a:r>
              <a:rPr sz="10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History: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repeated submissions tracked in session</a:t>
            </a:r>
          </a:p>
          <a:p>
            <a:pPr algn="just">
              <a:spcAft>
                <a:spcPts val="400"/>
              </a:spcAft>
            </a:pPr>
            <a:r>
              <a:rPr sz="10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Running it: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the Flask backend, then run streamlit_app.py; the app checks /health and calls /predict</a:t>
            </a:r>
          </a:p>
          <a:p>
            <a:pPr algn="just">
              <a:spcAft>
                <a:spcPts val="400"/>
              </a:spcAft>
            </a:pPr>
            <a:r>
              <a:rPr sz="10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 b="1">
                <a:solidFill>
                  <a:srgbClr val="5931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Testing: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39/39 automated acceptance tests passed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solidFill>
            <a:srgbClr val="3D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5806440"/>
            <a:ext cx="73152" cy="502920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5544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050" b="1">
                <a:solidFill>
                  <a:srgbClr val="D1A978"/>
                </a:solidFill>
                <a:latin typeface="Calibri"/>
              </a:rPr>
              <a:t>KEY 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5806440"/>
            <a:ext cx="93268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The interface turns the API into an accessible, responsibly worded tool that analysts can use without technical knowledge.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D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1">
                <a:solidFill>
                  <a:srgbClr val="D1A978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Georgia"/>
              </a:rPr>
              <a:t>Final Integration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1">
                <a:solidFill>
                  <a:srgbClr val="75465B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75465B"/>
                </a:solidFill>
                <a:latin typeface="Calibri"/>
              </a:rPr>
              <a:t>Disaster Tweet Classification  ·  NLP &amp; Machine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5440680" cy="457200"/>
          </a:xfrm>
          <a:prstGeom prst="rect">
            <a:avLst/>
          </a:prstGeom>
          <a:solidFill>
            <a:srgbClr val="593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44068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Key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544068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874519"/>
            <a:ext cx="5029200" cy="269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700"/>
              </a:spcAft>
            </a:pPr>
            <a:r>
              <a:rPr sz="11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6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on 32,136 combined features</a:t>
            </a:r>
          </a:p>
          <a:p>
            <a:pPr algn="just">
              <a:spcAft>
                <a:spcPts val="700"/>
              </a:spcAft>
            </a:pPr>
            <a:r>
              <a:rPr sz="11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6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F1 0.747, recall 0.753, precision 0.741</a:t>
            </a:r>
          </a:p>
          <a:p>
            <a:pPr algn="just">
              <a:spcAft>
                <a:spcPts val="700"/>
              </a:spcAft>
            </a:pPr>
            <a:r>
              <a:rPr sz="11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6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ROC-AUC 0.857; average precision 0.836</a:t>
            </a:r>
          </a:p>
          <a:p>
            <a:pPr algn="just">
              <a:spcAft>
                <a:spcPts val="700"/>
              </a:spcAft>
            </a:pPr>
            <a:r>
              <a:rPr sz="11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6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97% of F1 kept under noisy text</a:t>
            </a:r>
          </a:p>
          <a:p>
            <a:pPr algn="just">
              <a:spcAft>
                <a:spcPts val="700"/>
              </a:spcAft>
            </a:pPr>
            <a:r>
              <a:rPr sz="11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6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Leakage-safe split with a locked test set</a:t>
            </a:r>
          </a:p>
          <a:p>
            <a:pPr algn="just">
              <a:spcAft>
                <a:spcPts val="700"/>
              </a:spcAft>
            </a:pPr>
            <a:r>
              <a:rPr sz="11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6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 API and Streamlit UI delivered and tested</a:t>
            </a:r>
          </a:p>
          <a:p>
            <a:pPr algn="just">
              <a:spcAft>
                <a:spcPts val="700"/>
              </a:spcAft>
            </a:pPr>
            <a:r>
              <a:rPr sz="11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6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five feature blocks combined (development F1 0.727)</a:t>
            </a:r>
          </a:p>
          <a:p>
            <a:pPr algn="just">
              <a:spcAft>
                <a:spcPts val="700"/>
              </a:spcAft>
            </a:pPr>
            <a:r>
              <a:rPr sz="110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6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setting: C = 1.0 with balanced class weights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80160"/>
            <a:ext cx="5440680" cy="457200"/>
          </a:xfrm>
          <a:prstGeom prst="rect">
            <a:avLst/>
          </a:prstGeom>
          <a:solidFill>
            <a:srgbClr val="754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1280160"/>
            <a:ext cx="544068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Delivery &amp; Governance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737360"/>
            <a:ext cx="544068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874519"/>
            <a:ext cx="5029200" cy="2734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700"/>
              </a:spcAft>
            </a:pPr>
            <a:r>
              <a:rPr sz="105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Reproducibility: 6/6 checks, fixed seed 42</a:t>
            </a:r>
          </a:p>
          <a:p>
            <a:pPr algn="just">
              <a:spcAft>
                <a:spcPts val="700"/>
              </a:spcAft>
            </a:pPr>
            <a:r>
              <a:rPr sz="105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card and production metadata documented</a:t>
            </a:r>
          </a:p>
          <a:p>
            <a:pPr algn="just">
              <a:spcAft>
                <a:spcPts val="700"/>
              </a:spcAft>
            </a:pPr>
            <a:r>
              <a:rPr sz="105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README and dependency file finalised</a:t>
            </a:r>
          </a:p>
          <a:p>
            <a:pPr algn="just">
              <a:spcAft>
                <a:spcPts val="700"/>
              </a:spcAft>
            </a:pPr>
            <a:r>
              <a:rPr sz="105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evidence 14/14 artifacts located</a:t>
            </a:r>
          </a:p>
          <a:p>
            <a:pPr algn="just">
              <a:spcAft>
                <a:spcPts val="700"/>
              </a:spcAft>
            </a:pPr>
            <a:r>
              <a:rPr sz="105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Submission package of 103 files, SHA-256 verified (102/102)</a:t>
            </a:r>
          </a:p>
          <a:p>
            <a:pPr algn="just">
              <a:spcAft>
                <a:spcPts val="700"/>
              </a:spcAft>
            </a:pPr>
            <a:r>
              <a:rPr sz="105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Compressed archive of 18.66 MB</a:t>
            </a:r>
          </a:p>
          <a:p>
            <a:pPr algn="just">
              <a:spcAft>
                <a:spcPts val="700"/>
              </a:spcAft>
            </a:pPr>
            <a:r>
              <a:rPr sz="105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evidence: 14/14 items cleared</a:t>
            </a:r>
          </a:p>
          <a:p>
            <a:pPr algn="just">
              <a:spcAft>
                <a:spcPts val="700"/>
              </a:spcAft>
            </a:pPr>
            <a:r>
              <a:rPr sz="105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Notebook and API predictions match 100%</a:t>
            </a:r>
          </a:p>
          <a:p>
            <a:pPr algn="just">
              <a:spcAft>
                <a:spcPts val="700"/>
              </a:spcAft>
            </a:pPr>
            <a:r>
              <a:rPr sz="1050">
                <a:solidFill>
                  <a:srgbClr val="D1A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sz="1400">
                <a:solidFill>
                  <a:srgbClr val="332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 tests 14/14; UI tests 39/39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074920"/>
            <a:ext cx="11064240" cy="1097280"/>
          </a:xfrm>
          <a:prstGeom prst="rect">
            <a:avLst/>
          </a:prstGeom>
          <a:solidFill>
            <a:srgbClr val="3D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074920"/>
            <a:ext cx="10698480" cy="10972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Georgia"/>
              </a:rPr>
              <a:t>The model is a reliable decision-support tool for disaster monitoring: strong on unseen data, robust to noisy text, and well suited to support analysts with human review.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7200" b="0">
                <a:solidFill>
                  <a:srgbClr val="593148"/>
                </a:solidFill>
                <a:latin typeface="Georgia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41848" y="2286000"/>
            <a:ext cx="914400" cy="54864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514600"/>
            <a:ext cx="12191695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0">
                <a:solidFill>
                  <a:srgbClr val="75465B"/>
                </a:solidFill>
                <a:latin typeface="Calibri"/>
              </a:rPr>
              <a:t>Questions and discussion are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383280"/>
            <a:ext cx="12191695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>
                <a:solidFill>
                  <a:srgbClr val="593148"/>
                </a:solidFill>
                <a:latin typeface="Calibri"/>
              </a:rPr>
              <a:t>PROJECT AT A GLANCE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794760"/>
            <a:ext cx="25146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3794760"/>
            <a:ext cx="2514600" cy="64008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2514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1">
                <a:solidFill>
                  <a:srgbClr val="593148"/>
                </a:solidFill>
                <a:latin typeface="Georgia"/>
              </a:rPr>
              <a:t>Logistic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2514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>
                <a:solidFill>
                  <a:srgbClr val="75465B"/>
                </a:solidFill>
                <a:latin typeface="Calibri"/>
              </a:rPr>
              <a:t>Final locked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3794760"/>
            <a:ext cx="25146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66160" y="3794760"/>
            <a:ext cx="2514600" cy="64008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4069080"/>
            <a:ext cx="2514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1">
                <a:solidFill>
                  <a:srgbClr val="593148"/>
                </a:solidFill>
                <a:latin typeface="Georgia"/>
              </a:rPr>
              <a:t>F1 0.747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572000"/>
            <a:ext cx="2514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>
                <a:solidFill>
                  <a:srgbClr val="75465B"/>
                </a:solidFill>
                <a:latin typeface="Calibri"/>
              </a:rPr>
              <a:t>Unseen test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794760"/>
            <a:ext cx="25146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3794760"/>
            <a:ext cx="2514600" cy="64008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4069080"/>
            <a:ext cx="2514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1">
                <a:solidFill>
                  <a:srgbClr val="593148"/>
                </a:solidFill>
                <a:latin typeface="Georgia"/>
              </a:rPr>
              <a:t>ROC-AUC 0.857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572000"/>
            <a:ext cx="2514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>
                <a:solidFill>
                  <a:srgbClr val="75465B"/>
                </a:solidFill>
                <a:latin typeface="Calibri"/>
              </a:rPr>
              <a:t>Ranking quality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3794760"/>
            <a:ext cx="25146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52560" y="3794760"/>
            <a:ext cx="2514600" cy="64008"/>
          </a:xfrm>
          <a:prstGeom prst="rect">
            <a:avLst/>
          </a:prstGeom>
          <a:solidFill>
            <a:srgbClr val="D1A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0" y="4069080"/>
            <a:ext cx="2514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1">
                <a:solidFill>
                  <a:srgbClr val="593148"/>
                </a:solidFill>
                <a:latin typeface="Georgia"/>
              </a:rPr>
              <a:t>API + Web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4572000"/>
            <a:ext cx="2514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>
                <a:solidFill>
                  <a:srgbClr val="75465B"/>
                </a:solidFill>
                <a:latin typeface="Calibri"/>
              </a:rPr>
              <a:t>Flask and Streamlit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3D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Georgia"/>
              </a:rPr>
              <a:t>Disaster Tweet Classification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6309360"/>
            <a:ext cx="12191695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>
                <a:solidFill>
                  <a:srgbClr val="E4C59D"/>
                </a:solidFill>
                <a:latin typeface="Calibri"/>
              </a:rPr>
              <a:t>Prepared by Riya  ·  NLP &amp; Machine Learning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3460</Words>
  <Application>Microsoft Office PowerPoint</Application>
  <PresentationFormat>Widescreen</PresentationFormat>
  <Paragraphs>407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Riya Goel (MSc Business Analytics FT)</cp:lastModifiedBy>
  <cp:revision>3</cp:revision>
  <dcterms:created xsi:type="dcterms:W3CDTF">2013-01-27T09:14:16Z</dcterms:created>
  <dcterms:modified xsi:type="dcterms:W3CDTF">2026-10-14T11:06:41Z</dcterms:modified>
  <cp:category/>
</cp:coreProperties>
</file>